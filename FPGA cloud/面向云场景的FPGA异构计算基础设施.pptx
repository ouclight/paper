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9" r:id="rId2"/>
    <p:sldMasterId id="2147483666" r:id="rId3"/>
  </p:sldMasterIdLst>
  <p:notesMasterIdLst>
    <p:notesMasterId r:id="rId17"/>
  </p:notesMasterIdLst>
  <p:handoutMasterIdLst>
    <p:handoutMasterId r:id="rId18"/>
  </p:handoutMasterIdLst>
  <p:sldIdLst>
    <p:sldId id="258" r:id="rId4"/>
    <p:sldId id="467" r:id="rId5"/>
    <p:sldId id="475" r:id="rId6"/>
    <p:sldId id="473" r:id="rId7"/>
    <p:sldId id="470" r:id="rId8"/>
    <p:sldId id="477" r:id="rId9"/>
    <p:sldId id="476" r:id="rId10"/>
    <p:sldId id="478" r:id="rId11"/>
    <p:sldId id="479" r:id="rId12"/>
    <p:sldId id="480" r:id="rId13"/>
    <p:sldId id="481" r:id="rId14"/>
    <p:sldId id="474" r:id="rId15"/>
    <p:sldId id="31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00FF"/>
    <a:srgbClr val="FF3399"/>
    <a:srgbClr val="9999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8" autoAdjust="0"/>
    <p:restoredTop sz="78220" autoAdjust="0"/>
  </p:normalViewPr>
  <p:slideViewPr>
    <p:cSldViewPr snapToGrid="0">
      <p:cViewPr varScale="1">
        <p:scale>
          <a:sx n="129" d="100"/>
          <a:sy n="129" d="100"/>
        </p:scale>
        <p:origin x="1229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49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35136-E9CB-4C34-9E81-B9538E1DF63A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EFCB6-6444-415A-A23F-8055773E7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4138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C68ECD-1CF3-48F3-9A41-E365F2A3D3F3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F4398-F307-4D9B-9736-E743F2CD7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4798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02516-A821-410F-932F-BCC79E5F1AF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474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https://help.aliyun.com/zh/fpga-as-a-service/product-overview/scenarios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https://developer.aliyun.com/article/578308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当数据库遇见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FPGA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X-DB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异构计算如何实现百万级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TPS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？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02516-A821-410F-932F-BCC79E5F1AF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494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02516-A821-410F-932F-BCC79E5F1AF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636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F4398-F307-4D9B-9736-E743F2CD77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673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可使</a:t>
            </a:r>
            <a:r>
              <a:rPr lang="en-US" altLang="zh-CN" dirty="0" smtClean="0"/>
              <a:t>API</a:t>
            </a:r>
            <a:r>
              <a:rPr lang="zh-CN" altLang="en-US" dirty="0" smtClean="0"/>
              <a:t>尽可能类似</a:t>
            </a:r>
            <a:r>
              <a:rPr lang="en-US" altLang="zh-CN" dirty="0" smtClean="0"/>
              <a:t>GPU</a:t>
            </a:r>
            <a:r>
              <a:rPr lang="zh-CN" altLang="en-US" dirty="0" smtClean="0"/>
              <a:t>加速库的</a:t>
            </a:r>
            <a:r>
              <a:rPr lang="en-US" altLang="zh-CN" dirty="0" smtClean="0"/>
              <a:t>API</a:t>
            </a:r>
            <a:r>
              <a:rPr lang="zh-CN" altLang="en-US" dirty="0" smtClean="0"/>
              <a:t>，减小应用从</a:t>
            </a:r>
            <a:r>
              <a:rPr lang="en-US" altLang="zh-CN" dirty="0" smtClean="0"/>
              <a:t>GPU</a:t>
            </a:r>
            <a:r>
              <a:rPr lang="zh-CN" altLang="en-US" dirty="0" smtClean="0"/>
              <a:t>迁移到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的代价。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F4398-F307-4D9B-9736-E743F2CD77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315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F4398-F307-4D9B-9736-E743F2CD772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706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F4398-F307-4D9B-9736-E743F2CD772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503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426-3E86-41F2-AFA5-EB6E65AEC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277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426-3E86-41F2-AFA5-EB6E65AEC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797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426-3E86-41F2-AFA5-EB6E65AEC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254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426-3E86-41F2-AFA5-EB6E65AEC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644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426-3E86-41F2-AFA5-EB6E65AEC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004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426-3E86-41F2-AFA5-EB6E65AEC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27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426-3E86-41F2-AFA5-EB6E65AEC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100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426-3E86-41F2-AFA5-EB6E65AEC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35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426-3E86-41F2-AFA5-EB6E65AEC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47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426-3E86-41F2-AFA5-EB6E65AEC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061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426-3E86-41F2-AFA5-EB6E65AEC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931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6926" y="23022"/>
            <a:ext cx="10860064" cy="63882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AutoShape 6"/>
          <p:cNvSpPr>
            <a:spLocks noChangeArrowheads="1"/>
          </p:cNvSpPr>
          <p:nvPr userDrawn="1"/>
        </p:nvSpPr>
        <p:spPr bwMode="auto">
          <a:xfrm flipV="1">
            <a:off x="1" y="-2"/>
            <a:ext cx="751561" cy="684876"/>
          </a:xfrm>
          <a:prstGeom prst="rtTriangle">
            <a:avLst/>
          </a:prstGeom>
          <a:solidFill>
            <a:srgbClr val="0062A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194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Rectangle 7"/>
          <p:cNvSpPr>
            <a:spLocks noChangeArrowheads="1"/>
          </p:cNvSpPr>
          <p:nvPr userDrawn="1"/>
        </p:nvSpPr>
        <p:spPr bwMode="auto">
          <a:xfrm>
            <a:off x="-50104" y="12526"/>
            <a:ext cx="638825" cy="248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fld id="{FF961BBF-C8F1-4CC5-A43E-F283170BB750}" type="slidenum">
              <a:rPr lang="en-US" altLang="zh-CN" sz="1400" b="1">
                <a:solidFill>
                  <a:srgbClr val="FFFFFF"/>
                </a:solidFill>
                <a:latin typeface="微软雅黑" panose="020B0503020204020204" pitchFamily="34" charset="-122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1400" b="1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10488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4"/>
          <p:cNvSpPr>
            <a:spLocks/>
          </p:cNvSpPr>
          <p:nvPr userDrawn="1"/>
        </p:nvSpPr>
        <p:spPr bwMode="auto">
          <a:xfrm>
            <a:off x="-6351" y="4525435"/>
            <a:ext cx="12202584" cy="2360084"/>
          </a:xfrm>
          <a:custGeom>
            <a:avLst/>
            <a:gdLst>
              <a:gd name="T0" fmla="*/ 2147483647 w 5765"/>
              <a:gd name="T1" fmla="*/ 2147483647 h 1487"/>
              <a:gd name="T2" fmla="*/ 2147483647 w 5765"/>
              <a:gd name="T3" fmla="*/ 2147483647 h 1487"/>
              <a:gd name="T4" fmla="*/ 0 w 5765"/>
              <a:gd name="T5" fmla="*/ 2147483647 h 1487"/>
              <a:gd name="T6" fmla="*/ 2147483647 w 5765"/>
              <a:gd name="T7" fmla="*/ 2147483647 h 1487"/>
              <a:gd name="T8" fmla="*/ 2147483647 w 5765"/>
              <a:gd name="T9" fmla="*/ 0 h 1487"/>
              <a:gd name="T10" fmla="*/ 2147483647 w 5765"/>
              <a:gd name="T11" fmla="*/ 2147483647 h 1487"/>
              <a:gd name="T12" fmla="*/ 2147483647 w 5765"/>
              <a:gd name="T13" fmla="*/ 2147483647 h 14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765" h="1487">
                <a:moveTo>
                  <a:pt x="5763" y="1487"/>
                </a:moveTo>
                <a:lnTo>
                  <a:pt x="3" y="1487"/>
                </a:lnTo>
                <a:lnTo>
                  <a:pt x="0" y="362"/>
                </a:lnTo>
                <a:lnTo>
                  <a:pt x="1404" y="358"/>
                </a:lnTo>
                <a:lnTo>
                  <a:pt x="1762" y="0"/>
                </a:lnTo>
                <a:lnTo>
                  <a:pt x="5765" y="1"/>
                </a:lnTo>
                <a:lnTo>
                  <a:pt x="5763" y="148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09" tIns="60954" rIns="121909" bIns="60954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yriadRegular"/>
              <a:cs typeface="+mn-cs"/>
            </a:endParaRPr>
          </a:p>
        </p:txBody>
      </p:sp>
      <p:sp>
        <p:nvSpPr>
          <p:cNvPr id="4" name="Rectangle 11"/>
          <p:cNvSpPr>
            <a:spLocks noChangeArrowheads="1"/>
          </p:cNvSpPr>
          <p:nvPr userDrawn="1"/>
        </p:nvSpPr>
        <p:spPr bwMode="auto">
          <a:xfrm>
            <a:off x="0" y="0"/>
            <a:ext cx="12192000" cy="1051984"/>
          </a:xfrm>
          <a:prstGeom prst="rect">
            <a:avLst/>
          </a:prstGeom>
          <a:solidFill>
            <a:srgbClr val="0062A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09" tIns="60954" rIns="121909" bIns="60954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57996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3826"/>
            <a:ext cx="12192000" cy="3361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1"/>
          <p:cNvSpPr txBox="1">
            <a:spLocks/>
          </p:cNvSpPr>
          <p:nvPr userDrawn="1"/>
        </p:nvSpPr>
        <p:spPr bwMode="auto">
          <a:xfrm>
            <a:off x="3106271" y="502711"/>
            <a:ext cx="5620871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00"/>
                </a:solidFill>
                <a:latin typeface="MyriadRegular" pitchFamily="2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00"/>
                </a:solidFill>
                <a:latin typeface="MyriadRegular" pitchFamily="2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00"/>
                </a:solidFill>
                <a:latin typeface="MyriadRegular" pitchFamily="2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00"/>
                </a:solidFill>
                <a:latin typeface="MyriadRegular" pitchFamily="2" charset="0"/>
                <a:ea typeface="黑体" pitchFamily="2" charset="-122"/>
              </a:defRPr>
            </a:lvl9pPr>
          </a:lstStyle>
          <a:p>
            <a:pPr defTabSz="914354">
              <a:defRPr/>
            </a:pPr>
            <a:r>
              <a:rPr lang="zh-CN" altLang="en-US" sz="4800" kern="0" dirty="0">
                <a:solidFill>
                  <a:srgbClr val="0070C0"/>
                </a:solidFill>
              </a:rPr>
              <a:t>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3118226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ChangeArrowheads="1"/>
          </p:cNvSpPr>
          <p:nvPr userDrawn="1"/>
        </p:nvSpPr>
        <p:spPr bwMode="auto">
          <a:xfrm>
            <a:off x="0" y="1"/>
            <a:ext cx="12192000" cy="1052513"/>
          </a:xfrm>
          <a:prstGeom prst="rect">
            <a:avLst/>
          </a:prstGeom>
          <a:solidFill>
            <a:srgbClr val="0062A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1907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ChangeArrowheads="1"/>
          </p:cNvSpPr>
          <p:nvPr userDrawn="1"/>
        </p:nvSpPr>
        <p:spPr bwMode="auto">
          <a:xfrm>
            <a:off x="0" y="1"/>
            <a:ext cx="12192000" cy="1052513"/>
          </a:xfrm>
          <a:prstGeom prst="rect">
            <a:avLst/>
          </a:prstGeom>
          <a:solidFill>
            <a:srgbClr val="0062A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679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0B426-3E86-41F2-AFA5-EB6E65AEC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935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5" r:id="rId14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02784" y="44450"/>
            <a:ext cx="10657416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0" name="AutoShape 6"/>
          <p:cNvSpPr>
            <a:spLocks noChangeArrowheads="1"/>
          </p:cNvSpPr>
          <p:nvPr userDrawn="1"/>
        </p:nvSpPr>
        <p:spPr bwMode="auto">
          <a:xfrm flipV="1">
            <a:off x="0" y="0"/>
            <a:ext cx="1102784" cy="825500"/>
          </a:xfrm>
          <a:prstGeom prst="rtTriangle">
            <a:avLst/>
          </a:prstGeom>
          <a:solidFill>
            <a:srgbClr val="0062A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240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82551" y="115888"/>
            <a:ext cx="2844800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C3F1133-1CCB-46D0-AA18-051BDBEC73DE}" type="slidenum">
              <a:rPr kumimoji="0" lang="en-US" altLang="zh-CN" sz="1400">
                <a:solidFill>
                  <a:prstClr val="white"/>
                </a:solidFill>
                <a:latin typeface="MyriadRegular" pitchFamily="2" charset="0"/>
              </a:rPr>
              <a:pPr eaLnBrk="1" hangingPunct="1"/>
              <a:t>‹#›</a:t>
            </a:fld>
            <a:endParaRPr kumimoji="0" lang="en-US" altLang="zh-CN" sz="1400">
              <a:solidFill>
                <a:prstClr val="white"/>
              </a:solidFill>
              <a:latin typeface="MyriadRegular" pitchFamily="2" charset="0"/>
            </a:endParaRPr>
          </a:p>
        </p:txBody>
      </p:sp>
      <p:sp>
        <p:nvSpPr>
          <p:cNvPr id="819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2285" y="981075"/>
            <a:ext cx="10672233" cy="529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8199" name="直接连接符 8"/>
          <p:cNvCxnSpPr>
            <a:cxnSpLocks noChangeShapeType="1"/>
          </p:cNvCxnSpPr>
          <p:nvPr userDrawn="1"/>
        </p:nvCxnSpPr>
        <p:spPr bwMode="auto">
          <a:xfrm>
            <a:off x="0" y="836613"/>
            <a:ext cx="12192000" cy="0"/>
          </a:xfrm>
          <a:prstGeom prst="line">
            <a:avLst/>
          </a:prstGeom>
          <a:noFill/>
          <a:ln w="9525" algn="ctr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52629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62AC"/>
          </a:solidFill>
          <a:latin typeface="+mj-lt"/>
          <a:ea typeface="+mj-ea"/>
          <a:cs typeface="宋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62AC"/>
          </a:solidFill>
          <a:latin typeface="微软雅黑" pitchFamily="34" charset="-122"/>
          <a:ea typeface="微软雅黑" pitchFamily="34" charset="-122"/>
          <a:cs typeface="宋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62AC"/>
          </a:solidFill>
          <a:latin typeface="微软雅黑" pitchFamily="34" charset="-122"/>
          <a:ea typeface="微软雅黑" pitchFamily="34" charset="-122"/>
          <a:cs typeface="宋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62AC"/>
          </a:solidFill>
          <a:latin typeface="微软雅黑" pitchFamily="34" charset="-122"/>
          <a:ea typeface="微软雅黑" pitchFamily="34" charset="-122"/>
          <a:cs typeface="宋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62AC"/>
          </a:solidFill>
          <a:latin typeface="微软雅黑" pitchFamily="34" charset="-122"/>
          <a:ea typeface="微软雅黑" pitchFamily="34" charset="-122"/>
          <a:cs typeface="宋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yriadRegular" pitchFamily="2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yriadRegular" pitchFamily="2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yriadRegular" pitchFamily="2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yriadRegular" pitchFamily="2" charset="0"/>
          <a:ea typeface="宋体" pitchFamily="2" charset="-122"/>
        </a:defRPr>
      </a:lvl9pPr>
    </p:titleStyle>
    <p:bodyStyle>
      <a:lvl1pPr marL="342900" indent="-3429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  <a:cs typeface="宋体" charset="0"/>
        </a:defRPr>
      </a:lvl1pPr>
      <a:lvl2pPr marL="742950" indent="-28575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Char char="─"/>
        <a:defRPr>
          <a:solidFill>
            <a:schemeClr val="tx1"/>
          </a:solidFill>
          <a:latin typeface="+mn-lt"/>
          <a:ea typeface="+mn-ea"/>
          <a:cs typeface="宋体" charset="0"/>
        </a:defRPr>
      </a:lvl2pPr>
      <a:lvl3pPr marL="11811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Char char="─"/>
        <a:defRPr sz="1600">
          <a:solidFill>
            <a:schemeClr val="tx1"/>
          </a:solidFill>
          <a:latin typeface="+mn-lt"/>
          <a:ea typeface="+mn-ea"/>
          <a:cs typeface="宋体" charset="0"/>
        </a:defRPr>
      </a:lvl3pPr>
      <a:lvl4pPr marL="16383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Char char="─"/>
        <a:defRPr sz="1400">
          <a:solidFill>
            <a:schemeClr val="tx1"/>
          </a:solidFill>
          <a:latin typeface="+mn-lt"/>
          <a:ea typeface="+mn-ea"/>
          <a:cs typeface="宋体" charset="0"/>
        </a:defRPr>
      </a:lvl4pPr>
      <a:lvl5pPr marL="20955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Char char="─"/>
        <a:defRPr sz="1200">
          <a:solidFill>
            <a:schemeClr val="tx1"/>
          </a:solidFill>
          <a:latin typeface="+mn-lt"/>
          <a:ea typeface="+mn-ea"/>
          <a:cs typeface="宋体" charset="0"/>
        </a:defRPr>
      </a:lvl5pPr>
      <a:lvl6pPr marL="25527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3"/>
        </a:buBlip>
        <a:defRPr sz="2000">
          <a:solidFill>
            <a:schemeClr val="tx1"/>
          </a:solidFill>
          <a:latin typeface="+mn-lt"/>
          <a:ea typeface="+mn-ea"/>
        </a:defRPr>
      </a:lvl6pPr>
      <a:lvl7pPr marL="30099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3"/>
        </a:buBlip>
        <a:defRPr sz="2000">
          <a:solidFill>
            <a:schemeClr val="tx1"/>
          </a:solidFill>
          <a:latin typeface="+mn-lt"/>
          <a:ea typeface="+mn-ea"/>
        </a:defRPr>
      </a:lvl7pPr>
      <a:lvl8pPr marL="34671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3"/>
        </a:buBlip>
        <a:defRPr sz="2000">
          <a:solidFill>
            <a:schemeClr val="tx1"/>
          </a:solidFill>
          <a:latin typeface="+mn-lt"/>
          <a:ea typeface="+mn-ea"/>
        </a:defRPr>
      </a:lvl8pPr>
      <a:lvl9pPr marL="39243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3"/>
        </a:buBlip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02784" y="44450"/>
            <a:ext cx="10657416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0" name="AutoShape 6"/>
          <p:cNvSpPr>
            <a:spLocks noChangeArrowheads="1"/>
          </p:cNvSpPr>
          <p:nvPr userDrawn="1"/>
        </p:nvSpPr>
        <p:spPr bwMode="auto">
          <a:xfrm flipV="1">
            <a:off x="0" y="0"/>
            <a:ext cx="1102784" cy="825500"/>
          </a:xfrm>
          <a:prstGeom prst="rtTriangle">
            <a:avLst/>
          </a:prstGeom>
          <a:solidFill>
            <a:srgbClr val="0062A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240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82551" y="115888"/>
            <a:ext cx="2844800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C3F1133-1CCB-46D0-AA18-051BDBEC73DE}" type="slidenum">
              <a:rPr kumimoji="0" lang="en-US" altLang="zh-CN" sz="1400">
                <a:solidFill>
                  <a:prstClr val="white"/>
                </a:solidFill>
                <a:latin typeface="MyriadRegular" pitchFamily="2" charset="0"/>
              </a:rPr>
              <a:pPr eaLnBrk="1" hangingPunct="1"/>
              <a:t>‹#›</a:t>
            </a:fld>
            <a:endParaRPr kumimoji="0" lang="en-US" altLang="zh-CN" sz="1400">
              <a:solidFill>
                <a:prstClr val="white"/>
              </a:solidFill>
              <a:latin typeface="MyriadRegular" pitchFamily="2" charset="0"/>
            </a:endParaRPr>
          </a:p>
        </p:txBody>
      </p:sp>
      <p:sp>
        <p:nvSpPr>
          <p:cNvPr id="819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2285" y="981075"/>
            <a:ext cx="10672233" cy="529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8199" name="直接连接符 8"/>
          <p:cNvCxnSpPr>
            <a:cxnSpLocks noChangeShapeType="1"/>
          </p:cNvCxnSpPr>
          <p:nvPr userDrawn="1"/>
        </p:nvCxnSpPr>
        <p:spPr bwMode="auto">
          <a:xfrm>
            <a:off x="0" y="836613"/>
            <a:ext cx="12192000" cy="0"/>
          </a:xfrm>
          <a:prstGeom prst="line">
            <a:avLst/>
          </a:prstGeom>
          <a:noFill/>
          <a:ln w="9525" algn="ctr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133238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62AC"/>
          </a:solidFill>
          <a:latin typeface="+mj-lt"/>
          <a:ea typeface="+mj-ea"/>
          <a:cs typeface="宋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62AC"/>
          </a:solidFill>
          <a:latin typeface="微软雅黑" pitchFamily="34" charset="-122"/>
          <a:ea typeface="微软雅黑" pitchFamily="34" charset="-122"/>
          <a:cs typeface="宋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62AC"/>
          </a:solidFill>
          <a:latin typeface="微软雅黑" pitchFamily="34" charset="-122"/>
          <a:ea typeface="微软雅黑" pitchFamily="34" charset="-122"/>
          <a:cs typeface="宋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62AC"/>
          </a:solidFill>
          <a:latin typeface="微软雅黑" pitchFamily="34" charset="-122"/>
          <a:ea typeface="微软雅黑" pitchFamily="34" charset="-122"/>
          <a:cs typeface="宋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62AC"/>
          </a:solidFill>
          <a:latin typeface="微软雅黑" pitchFamily="34" charset="-122"/>
          <a:ea typeface="微软雅黑" pitchFamily="34" charset="-122"/>
          <a:cs typeface="宋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yriadRegular" pitchFamily="2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yriadRegular" pitchFamily="2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yriadRegular" pitchFamily="2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yriadRegular" pitchFamily="2" charset="0"/>
          <a:ea typeface="宋体" pitchFamily="2" charset="-122"/>
        </a:defRPr>
      </a:lvl9pPr>
    </p:titleStyle>
    <p:bodyStyle>
      <a:lvl1pPr marL="342900" indent="-3429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  <a:cs typeface="宋体" charset="0"/>
        </a:defRPr>
      </a:lvl1pPr>
      <a:lvl2pPr marL="742950" indent="-28575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Char char="─"/>
        <a:defRPr>
          <a:solidFill>
            <a:schemeClr val="tx1"/>
          </a:solidFill>
          <a:latin typeface="+mn-lt"/>
          <a:ea typeface="+mn-ea"/>
          <a:cs typeface="宋体" charset="0"/>
        </a:defRPr>
      </a:lvl2pPr>
      <a:lvl3pPr marL="11811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Char char="─"/>
        <a:defRPr sz="1600">
          <a:solidFill>
            <a:schemeClr val="tx1"/>
          </a:solidFill>
          <a:latin typeface="+mn-lt"/>
          <a:ea typeface="+mn-ea"/>
          <a:cs typeface="宋体" charset="0"/>
        </a:defRPr>
      </a:lvl3pPr>
      <a:lvl4pPr marL="16383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Char char="─"/>
        <a:defRPr sz="1400">
          <a:solidFill>
            <a:schemeClr val="tx1"/>
          </a:solidFill>
          <a:latin typeface="+mn-lt"/>
          <a:ea typeface="+mn-ea"/>
          <a:cs typeface="宋体" charset="0"/>
        </a:defRPr>
      </a:lvl4pPr>
      <a:lvl5pPr marL="20955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Char char="─"/>
        <a:defRPr sz="1200">
          <a:solidFill>
            <a:schemeClr val="tx1"/>
          </a:solidFill>
          <a:latin typeface="+mn-lt"/>
          <a:ea typeface="+mn-ea"/>
          <a:cs typeface="宋体" charset="0"/>
        </a:defRPr>
      </a:lvl5pPr>
      <a:lvl6pPr marL="25527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3"/>
        </a:buBlip>
        <a:defRPr sz="2000">
          <a:solidFill>
            <a:schemeClr val="tx1"/>
          </a:solidFill>
          <a:latin typeface="+mn-lt"/>
          <a:ea typeface="+mn-ea"/>
        </a:defRPr>
      </a:lvl6pPr>
      <a:lvl7pPr marL="30099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3"/>
        </a:buBlip>
        <a:defRPr sz="2000">
          <a:solidFill>
            <a:schemeClr val="tx1"/>
          </a:solidFill>
          <a:latin typeface="+mn-lt"/>
          <a:ea typeface="+mn-ea"/>
        </a:defRPr>
      </a:lvl7pPr>
      <a:lvl8pPr marL="34671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3"/>
        </a:buBlip>
        <a:defRPr sz="2000">
          <a:solidFill>
            <a:schemeClr val="tx1"/>
          </a:solidFill>
          <a:latin typeface="+mn-lt"/>
          <a:ea typeface="+mn-ea"/>
        </a:defRPr>
      </a:lvl8pPr>
      <a:lvl9pPr marL="39243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3"/>
        </a:buBlip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1348525" y="1392115"/>
            <a:ext cx="9493736" cy="1160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09" tIns="60954" rIns="121909" bIns="60954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t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+mn-lt"/>
                <a:ea typeface="+mn-ea"/>
                <a:cs typeface="宋体" charset="0"/>
              </a:defRPr>
            </a:lvl1pPr>
            <a:lvl2pPr marL="742950" indent="-285750" algn="l" rtl="0" eaLnBrk="0" fontAlgn="t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Tx/>
              <a:buChar char="─"/>
              <a:defRPr sz="1800">
                <a:solidFill>
                  <a:schemeClr val="tx1"/>
                </a:solidFill>
                <a:latin typeface="+mn-lt"/>
                <a:ea typeface="+mn-ea"/>
                <a:cs typeface="宋体" charset="0"/>
              </a:defRPr>
            </a:lvl2pPr>
            <a:lvl3pPr marL="1181100" indent="-266700" algn="l" rtl="0" eaLnBrk="0" fontAlgn="t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Tx/>
              <a:buChar char="─"/>
              <a:defRPr sz="1600">
                <a:solidFill>
                  <a:schemeClr val="tx1"/>
                </a:solidFill>
                <a:latin typeface="+mn-lt"/>
                <a:ea typeface="+mn-ea"/>
                <a:cs typeface="宋体" charset="0"/>
              </a:defRPr>
            </a:lvl3pPr>
            <a:lvl4pPr marL="1638300" indent="-266700" algn="l" rtl="0" eaLnBrk="0" fontAlgn="t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Tx/>
              <a:buChar char="─"/>
              <a:defRPr sz="1400">
                <a:solidFill>
                  <a:schemeClr val="tx1"/>
                </a:solidFill>
                <a:latin typeface="+mn-lt"/>
                <a:ea typeface="+mn-ea"/>
                <a:cs typeface="宋体" charset="0"/>
              </a:defRPr>
            </a:lvl4pPr>
            <a:lvl5pPr marL="2095500" indent="-266700" algn="l" rtl="0" eaLnBrk="0" fontAlgn="t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Tx/>
              <a:buChar char="─"/>
              <a:defRPr sz="1200">
                <a:solidFill>
                  <a:schemeClr val="tx1"/>
                </a:solidFill>
                <a:latin typeface="+mn-lt"/>
                <a:ea typeface="+mn-ea"/>
                <a:cs typeface="宋体" charset="0"/>
              </a:defRPr>
            </a:lvl5pPr>
            <a:lvl6pPr marL="2552700" indent="-266700" algn="l" rtl="0" fontAlgn="t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fontAlgn="t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fontAlgn="t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fontAlgn="t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 eaLnBrk="1" hangingPunct="1">
              <a:buNone/>
            </a:pPr>
            <a:r>
              <a:rPr lang="zh-CN" altLang="en-US" sz="4800" b="1" kern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面向云场景的</a:t>
            </a:r>
            <a:r>
              <a:rPr lang="en-US" altLang="zh-CN" sz="4800" b="1" kern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FPGA</a:t>
            </a:r>
            <a:r>
              <a:rPr lang="zh-CN" altLang="en-US" sz="4800" b="1" kern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异构计算</a:t>
            </a:r>
            <a:endParaRPr lang="en-US" altLang="zh-CN" sz="4800" b="1" kern="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lt"/>
            </a:endParaRPr>
          </a:p>
          <a:p>
            <a:pPr marL="0" indent="0" algn="ctr" eaLnBrk="1" hangingPunct="1">
              <a:buNone/>
            </a:pPr>
            <a:r>
              <a:rPr lang="zh-CN" altLang="en-US" sz="4800" b="1" kern="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基础设施</a:t>
            </a:r>
            <a:endParaRPr lang="en-US" altLang="zh-CN" sz="48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701596" y="5063895"/>
            <a:ext cx="4585769" cy="1274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09" tIns="60954" rIns="121909" bIns="60954" numCol="1" anchor="t" anchorCtr="0" compatLnSpc="1">
            <a:prstTxWarp prst="textNoShape">
              <a:avLst/>
            </a:prstTxWarp>
          </a:bodyPr>
          <a:lstStyle>
            <a:lvl1pPr marL="342874" indent="-342874" algn="l" rtl="0" eaLnBrk="0" fontAlgn="t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2"/>
              </a:buBlip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95" indent="-285730" algn="l" rtl="0" eaLnBrk="0" fontAlgn="t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81012" indent="-266680" algn="l" rtl="0" eaLnBrk="0" fontAlgn="t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8178" indent="-266680" algn="l" rtl="0" eaLnBrk="0" fontAlgn="t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5344" indent="-266680" algn="l" rtl="0" eaLnBrk="0" fontAlgn="t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2508" indent="-266680" algn="l" rtl="0" fontAlgn="t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675" indent="-266680" algn="l" rtl="0" fontAlgn="t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6840" indent="-266680" algn="l" rtl="0" fontAlgn="t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007" indent="-266680" algn="l" rtl="0" fontAlgn="t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 defTabSz="914400" eaLnBrk="1" hangingPunct="1">
              <a:buFontTx/>
              <a:buNone/>
            </a:pPr>
            <a:r>
              <a:rPr lang="zh-CN" altLang="en-US" sz="2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张德闪</a:t>
            </a:r>
            <a:endParaRPr lang="en-US" altLang="zh-CN" sz="2800" b="1" kern="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3017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直接连接符 52"/>
          <p:cNvCxnSpPr/>
          <p:nvPr/>
        </p:nvCxnSpPr>
        <p:spPr>
          <a:xfrm>
            <a:off x="0" y="685800"/>
            <a:ext cx="12192000" cy="754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文本框 2"/>
          <p:cNvSpPr txBox="1"/>
          <p:nvPr/>
        </p:nvSpPr>
        <p:spPr>
          <a:xfrm>
            <a:off x="758825" y="101949"/>
            <a:ext cx="11277599" cy="52321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>
            <a:defPPr>
              <a:defRPr lang="zh-CN"/>
            </a:defPPr>
            <a:lvl1pPr defTabSz="91440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hangingPunct="0"/>
            <a:r>
              <a:rPr lang="zh-CN" altLang="en-US" sz="2800" dirty="0" smtClean="0">
                <a:solidFill>
                  <a:srgbClr val="0070C0"/>
                </a:solidFill>
                <a:sym typeface="+mn-lt"/>
              </a:rPr>
              <a:t>前提</a:t>
            </a:r>
            <a:endParaRPr lang="zh-CN" altLang="en-US" sz="2800" dirty="0">
              <a:solidFill>
                <a:srgbClr val="0070C0"/>
              </a:solidFill>
              <a:sym typeface="+mn-lt"/>
            </a:endParaRPr>
          </a:p>
        </p:txBody>
      </p:sp>
      <p:sp>
        <p:nvSpPr>
          <p:cNvPr id="2" name="AutoShape 2" descr="https://pics7.baidu.com/feed/a08b87d6277f9e2fa0bd196f018ac82fb999f316.jpeg@f_auto?token=65bd444e3d29be406513b784c9fc3e36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AutoShape 4" descr="https://pics7.baidu.com/feed/a08b87d6277f9e2fa0bd196f018ac82fb999f316.jpeg@f_auto?token=65bd444e3d29be406513b784c9fc3e36"/>
          <p:cNvSpPr>
            <a:spLocks noChangeAspect="1" noChangeArrowheads="1"/>
          </p:cNvSpPr>
          <p:nvPr/>
        </p:nvSpPr>
        <p:spPr bwMode="auto">
          <a:xfrm>
            <a:off x="215900" y="15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081AB0-FCE8-4502-A5EA-C26264A8C390}"/>
              </a:ext>
            </a:extLst>
          </p:cNvPr>
          <p:cNvSpPr txBox="1"/>
          <p:nvPr/>
        </p:nvSpPr>
        <p:spPr>
          <a:xfrm>
            <a:off x="3131949" y="933871"/>
            <a:ext cx="5616677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FPGA</a:t>
            </a:r>
            <a:r>
              <a:rPr lang="zh-CN" altLang="en-US" sz="20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异构计算是否还有市场，有一定前景？</a:t>
            </a:r>
            <a:endParaRPr lang="en-US" altLang="zh-CN" sz="20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5900" y="1926508"/>
            <a:ext cx="5257800" cy="14773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优势：</a:t>
            </a:r>
            <a:endParaRPr lang="en-US" altLang="zh-CN" dirty="0" smtClean="0"/>
          </a:p>
          <a:p>
            <a:r>
              <a:rPr lang="en-US" altLang="zh-CN" dirty="0"/>
              <a:t>  </a:t>
            </a:r>
            <a:r>
              <a:rPr lang="en-US" altLang="zh-CN" dirty="0" smtClean="0"/>
              <a:t> - </a:t>
            </a:r>
            <a:r>
              <a:rPr lang="zh-CN" altLang="en-US" dirty="0" smtClean="0"/>
              <a:t>能耗低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- </a:t>
            </a:r>
            <a:r>
              <a:rPr lang="zh-CN" altLang="en-US" dirty="0" smtClean="0"/>
              <a:t>延迟低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- </a:t>
            </a:r>
            <a:r>
              <a:rPr lang="zh-CN" altLang="en-US" dirty="0" smtClean="0"/>
              <a:t>可定制：可基于应用特点，做定制开发，比如位宽、计算模块等，取得性价比高的性能。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6778624" y="1926508"/>
            <a:ext cx="5257800" cy="14773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劣势：</a:t>
            </a:r>
            <a:endParaRPr lang="en-US" altLang="zh-CN" dirty="0" smtClean="0"/>
          </a:p>
          <a:p>
            <a:r>
              <a:rPr lang="en-US" altLang="zh-CN" dirty="0"/>
              <a:t>  </a:t>
            </a:r>
            <a:r>
              <a:rPr lang="en-US" altLang="zh-CN" dirty="0" smtClean="0"/>
              <a:t> - </a:t>
            </a:r>
            <a:r>
              <a:rPr lang="zh-CN" altLang="en-US" dirty="0" smtClean="0"/>
              <a:t>编程复杂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- </a:t>
            </a:r>
            <a:r>
              <a:rPr lang="zh-CN" altLang="en-US" dirty="0" smtClean="0"/>
              <a:t>开发难度大、周期长</a:t>
            </a:r>
            <a:endParaRPr lang="en-US" altLang="zh-CN" dirty="0" smtClean="0"/>
          </a:p>
          <a:p>
            <a:r>
              <a:rPr lang="en-US" altLang="zh-CN" dirty="0"/>
              <a:t>  </a:t>
            </a:r>
            <a:r>
              <a:rPr lang="en-US" altLang="zh-CN" dirty="0" smtClean="0"/>
              <a:t> - FPGA</a:t>
            </a:r>
            <a:r>
              <a:rPr lang="zh-CN" altLang="en-US" dirty="0" smtClean="0"/>
              <a:t>频率较低，需要显著的并行性克服频率低的缺陷。</a:t>
            </a:r>
            <a:endParaRPr lang="en-US" altLang="zh-CN" dirty="0" smtClean="0"/>
          </a:p>
        </p:txBody>
      </p:sp>
      <p:sp>
        <p:nvSpPr>
          <p:cNvPr id="5" name="文本框 4"/>
          <p:cNvSpPr txBox="1"/>
          <p:nvPr/>
        </p:nvSpPr>
        <p:spPr>
          <a:xfrm>
            <a:off x="63500" y="5022430"/>
            <a:ext cx="88519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其他想法：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没有</a:t>
            </a:r>
            <a:r>
              <a:rPr lang="zh-CN" altLang="en-US" dirty="0"/>
              <a:t>杀手</a:t>
            </a:r>
            <a:r>
              <a:rPr lang="zh-CN" altLang="en-US" dirty="0" smtClean="0"/>
              <a:t>级应用，比如</a:t>
            </a:r>
            <a:r>
              <a:rPr lang="en-US" altLang="zh-CN" dirty="0" smtClean="0"/>
              <a:t>GPU</a:t>
            </a:r>
            <a:r>
              <a:rPr lang="zh-CN" altLang="en-US" dirty="0" smtClean="0"/>
              <a:t>有</a:t>
            </a:r>
            <a:r>
              <a:rPr lang="en-US" altLang="zh-CN" dirty="0" smtClean="0"/>
              <a:t>AI</a:t>
            </a:r>
            <a:r>
              <a:rPr lang="zh-CN" altLang="en-US" dirty="0" smtClean="0"/>
              <a:t>。现在同态加密（密码学领域的圣杯），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是否有特别表现呢？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器件特点与应用相匹配。个人看法，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器件特点适合在数据流动环节对数据做处理（流式处理、在线式计算），比如网络数据处理（网络应用，短视频等）、数据在线加解密、解压缩等。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222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直接连接符 52"/>
          <p:cNvCxnSpPr/>
          <p:nvPr/>
        </p:nvCxnSpPr>
        <p:spPr>
          <a:xfrm>
            <a:off x="0" y="685800"/>
            <a:ext cx="12192000" cy="754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文本框 2"/>
          <p:cNvSpPr txBox="1"/>
          <p:nvPr/>
        </p:nvSpPr>
        <p:spPr>
          <a:xfrm>
            <a:off x="758825" y="101949"/>
            <a:ext cx="11277599" cy="52321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>
            <a:defPPr>
              <a:defRPr lang="zh-CN"/>
            </a:defPPr>
            <a:lvl1pPr defTabSz="91440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hangingPunct="0"/>
            <a:r>
              <a:rPr lang="zh-CN" altLang="en-US" sz="2800" dirty="0" smtClean="0">
                <a:solidFill>
                  <a:srgbClr val="0070C0"/>
                </a:solidFill>
                <a:sym typeface="+mn-lt"/>
              </a:rPr>
              <a:t>应用示例</a:t>
            </a:r>
            <a:endParaRPr lang="zh-CN" altLang="en-US" sz="2800" dirty="0">
              <a:solidFill>
                <a:srgbClr val="0070C0"/>
              </a:solidFill>
              <a:sym typeface="+mn-lt"/>
            </a:endParaRPr>
          </a:p>
        </p:txBody>
      </p:sp>
      <p:sp>
        <p:nvSpPr>
          <p:cNvPr id="2" name="AutoShape 2" descr="https://pics7.baidu.com/feed/a08b87d6277f9e2fa0bd196f018ac82fb999f316.jpeg@f_auto?token=65bd444e3d29be406513b784c9fc3e36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AutoShape 4" descr="https://pics7.baidu.com/feed/a08b87d6277f9e2fa0bd196f018ac82fb999f316.jpeg@f_auto?token=65bd444e3d29be406513b784c9fc3e36"/>
          <p:cNvSpPr>
            <a:spLocks noChangeAspect="1" noChangeArrowheads="1"/>
          </p:cNvSpPr>
          <p:nvPr/>
        </p:nvSpPr>
        <p:spPr bwMode="auto">
          <a:xfrm>
            <a:off x="215900" y="15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" y="1237062"/>
            <a:ext cx="8905875" cy="18478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825" y="3439885"/>
            <a:ext cx="7562850" cy="3524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900" y="4070205"/>
            <a:ext cx="11498305" cy="27987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5025003"/>
            <a:ext cx="11199879" cy="95566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8434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直接连接符 52"/>
          <p:cNvCxnSpPr/>
          <p:nvPr/>
        </p:nvCxnSpPr>
        <p:spPr>
          <a:xfrm>
            <a:off x="0" y="685800"/>
            <a:ext cx="12192000" cy="754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文本框 2"/>
          <p:cNvSpPr txBox="1"/>
          <p:nvPr/>
        </p:nvSpPr>
        <p:spPr>
          <a:xfrm>
            <a:off x="758825" y="101949"/>
            <a:ext cx="11277599" cy="52321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>
            <a:defPPr>
              <a:defRPr lang="zh-CN"/>
            </a:defPPr>
            <a:lvl1pPr defTabSz="91440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hangingPunct="0"/>
            <a:r>
              <a:rPr lang="zh-CN" altLang="en-US" sz="2800" dirty="0" smtClean="0">
                <a:solidFill>
                  <a:srgbClr val="0070C0"/>
                </a:solidFill>
                <a:sym typeface="+mn-lt"/>
              </a:rPr>
              <a:t>云端</a:t>
            </a:r>
            <a:r>
              <a:rPr lang="en-US" altLang="zh-CN" sz="2800" dirty="0" smtClean="0">
                <a:solidFill>
                  <a:srgbClr val="0070C0"/>
                </a:solidFill>
                <a:sym typeface="+mn-lt"/>
              </a:rPr>
              <a:t>FPGA</a:t>
            </a:r>
            <a:r>
              <a:rPr lang="zh-CN" altLang="en-US" sz="2800" dirty="0" smtClean="0">
                <a:solidFill>
                  <a:srgbClr val="0070C0"/>
                </a:solidFill>
                <a:sym typeface="+mn-lt"/>
              </a:rPr>
              <a:t>服务模式</a:t>
            </a:r>
            <a:endParaRPr lang="zh-CN" altLang="en-US" sz="2800" dirty="0">
              <a:solidFill>
                <a:srgbClr val="0070C0"/>
              </a:solidFill>
              <a:sym typeface="+mn-lt"/>
            </a:endParaRPr>
          </a:p>
        </p:txBody>
      </p:sp>
      <p:sp>
        <p:nvSpPr>
          <p:cNvPr id="2" name="AutoShape 2" descr="https://pics7.baidu.com/feed/a08b87d6277f9e2fa0bd196f018ac82fb999f316.jpeg@f_auto?token=65bd444e3d29be406513b784c9fc3e36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AutoShape 4" descr="https://pics7.baidu.com/feed/a08b87d6277f9e2fa0bd196f018ac82fb999f316.jpeg@f_auto?token=65bd444e3d29be406513b784c9fc3e36"/>
          <p:cNvSpPr>
            <a:spLocks noChangeAspect="1" noChangeArrowheads="1"/>
          </p:cNvSpPr>
          <p:nvPr/>
        </p:nvSpPr>
        <p:spPr bwMode="auto">
          <a:xfrm>
            <a:off x="215900" y="15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081AB0-FCE8-4502-A5EA-C26264A8C390}"/>
              </a:ext>
            </a:extLst>
          </p:cNvPr>
          <p:cNvSpPr txBox="1"/>
          <p:nvPr/>
        </p:nvSpPr>
        <p:spPr>
          <a:xfrm>
            <a:off x="368300" y="933871"/>
            <a:ext cx="10223500" cy="470898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类比云计算服务模式，</a:t>
            </a:r>
            <a:r>
              <a:rPr lang="en-US" altLang="zh-CN" sz="20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SaaS/PaaS/IaaS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FPGA SaaS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用户感知不到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FPGA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，只感知到被加速的服务，比如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Microsoft Bing;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FPGA PaaS : 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用户感知到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FPGA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提供的加速功能，功能固定，可使用接口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调用加速功能，比如加解密功能、视频转解码功能等。只能使用，不能修改。类比于云计算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PaaS,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操作系统不可更改，可安装不同应用。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buFont typeface="Wingdings" panose="05000000000000000000" pitchFamily="2" charset="2"/>
              <a:buChar char="l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FPGA IaaS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：用户拿到一个裸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FPGA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设备，可做任何操作。针对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FPGA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的特点，此服务难度大，考虑问题很多，比如调试较难实现，安全等。阿里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腾讯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亚马逊推出的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实例。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8300" y="5698712"/>
            <a:ext cx="1092222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FPGA </a:t>
            </a:r>
            <a:r>
              <a:rPr lang="en-US" alt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PaaS  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，我称其为 “硬件加速库”，类比于</a:t>
            </a:r>
            <a:r>
              <a:rPr lang="en-US" altLang="zh-CN" b="1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Nvidia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提供的各种加速库</a:t>
            </a:r>
            <a:r>
              <a:rPr lang="en-US" altLang="zh-CN" b="1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cuMath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cuFFT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相同点：都是调用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，获取加速功能；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不同点：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FPGA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硬件加速库灵活性差，不可更改；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Nvidia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加速库有改动的可能，但通常也不更改。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0546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573294" y="100991"/>
            <a:ext cx="11277599" cy="52321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>
            <a:defPPr>
              <a:defRPr lang="zh-CN"/>
            </a:defPPr>
            <a:lvl1pPr defTabSz="91440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hangingPunct="0"/>
            <a:r>
              <a:rPr lang="en-US" altLang="zh-CN" sz="2800" dirty="0" smtClean="0">
                <a:solidFill>
                  <a:srgbClr val="0070C0"/>
                </a:solidFill>
                <a:cs typeface="+mj-cs"/>
                <a:sym typeface="+mn-lt"/>
              </a:rPr>
              <a:t>FPGA PaaS </a:t>
            </a:r>
            <a:r>
              <a:rPr lang="zh-CN" altLang="en-US" sz="2800" dirty="0" smtClean="0">
                <a:solidFill>
                  <a:srgbClr val="0070C0"/>
                </a:solidFill>
                <a:cs typeface="+mj-cs"/>
                <a:sym typeface="+mn-lt"/>
              </a:rPr>
              <a:t>角色构成</a:t>
            </a:r>
            <a:endParaRPr lang="zh-CN" altLang="en-US" sz="2800" dirty="0">
              <a:solidFill>
                <a:srgbClr val="0070C0"/>
              </a:solidFill>
              <a:cs typeface="+mj-cs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13739" y="5032198"/>
            <a:ext cx="6037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rgbClr val="0070C0"/>
                </a:solidFill>
              </a:rPr>
              <a:t>FPGA </a:t>
            </a:r>
            <a:r>
              <a:rPr lang="en-US" altLang="zh-CN" dirty="0">
                <a:solidFill>
                  <a:srgbClr val="0070C0"/>
                </a:solidFill>
              </a:rPr>
              <a:t>P</a:t>
            </a:r>
            <a:r>
              <a:rPr lang="en-US" altLang="zh-CN" dirty="0" smtClean="0">
                <a:solidFill>
                  <a:srgbClr val="0070C0"/>
                </a:solidFill>
              </a:rPr>
              <a:t>aaS</a:t>
            </a:r>
            <a:r>
              <a:rPr lang="zh-CN" altLang="en-US" dirty="0" smtClean="0">
                <a:solidFill>
                  <a:srgbClr val="0070C0"/>
                </a:solidFill>
              </a:rPr>
              <a:t>服务提供者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dirty="0" smtClean="0"/>
              <a:t>搭建</a:t>
            </a:r>
            <a:r>
              <a:rPr lang="en-US" altLang="zh-CN" dirty="0" smtClean="0"/>
              <a:t>FPGA PaaS</a:t>
            </a:r>
            <a:r>
              <a:rPr lang="zh-CN" altLang="en-US" dirty="0" smtClean="0"/>
              <a:t>云服务体系，向客户提供</a:t>
            </a:r>
            <a:r>
              <a:rPr lang="en-US" altLang="zh-CN" dirty="0" smtClean="0"/>
              <a:t>FPGA PaaS</a:t>
            </a:r>
            <a:r>
              <a:rPr lang="zh-CN" altLang="en-US" dirty="0" smtClean="0"/>
              <a:t>加速服务</a:t>
            </a:r>
            <a:endParaRPr lang="en-US" altLang="zh-CN" dirty="0" smtClean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dirty="0" smtClean="0"/>
              <a:t>保证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高利用率、高可靠、良好的用户体验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614341" y="941033"/>
            <a:ext cx="44548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0070C0"/>
                </a:solidFill>
              </a:rPr>
              <a:t>包含三个角色</a:t>
            </a:r>
            <a:endParaRPr lang="en-US" altLang="zh-CN" b="1" dirty="0" smtClean="0">
              <a:solidFill>
                <a:srgbClr val="0070C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dirty="0" smtClean="0"/>
              <a:t>FPGA</a:t>
            </a:r>
            <a:r>
              <a:rPr lang="zh-CN" altLang="en-US" dirty="0" smtClean="0"/>
              <a:t>加速器设备提供者</a:t>
            </a:r>
            <a:endParaRPr lang="en-US" altLang="zh-CN" dirty="0" smtClean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dirty="0" smtClean="0"/>
              <a:t>业务应用算法</a:t>
            </a:r>
            <a:r>
              <a:rPr lang="en-US" altLang="zh-CN" dirty="0" smtClean="0"/>
              <a:t>IP</a:t>
            </a:r>
            <a:r>
              <a:rPr lang="zh-CN" altLang="en-US" dirty="0" smtClean="0"/>
              <a:t>提供者</a:t>
            </a:r>
            <a:endParaRPr lang="en-US" altLang="zh-CN" dirty="0" smtClean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dirty="0"/>
              <a:t> </a:t>
            </a:r>
            <a:r>
              <a:rPr lang="en-US" altLang="zh-CN" dirty="0" smtClean="0"/>
              <a:t>FPGA PaaS</a:t>
            </a:r>
            <a:r>
              <a:rPr lang="zh-CN" altLang="en-US" dirty="0" smtClean="0"/>
              <a:t>云服务</a:t>
            </a:r>
            <a:r>
              <a:rPr lang="zh-CN" altLang="en-US" dirty="0"/>
              <a:t>提供者</a:t>
            </a:r>
            <a:r>
              <a:rPr lang="en-US" altLang="zh-CN" dirty="0"/>
              <a:t>         </a:t>
            </a:r>
          </a:p>
        </p:txBody>
      </p:sp>
      <p:sp>
        <p:nvSpPr>
          <p:cNvPr id="13" name="椭圆 12"/>
          <p:cNvSpPr/>
          <p:nvPr/>
        </p:nvSpPr>
        <p:spPr>
          <a:xfrm>
            <a:off x="8194091" y="1005021"/>
            <a:ext cx="1766655" cy="176665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FPGA PaaS</a:t>
            </a:r>
            <a:r>
              <a:rPr lang="zh-CN" altLang="en-US" dirty="0" smtClean="0"/>
              <a:t>云服务提供者</a:t>
            </a:r>
            <a:endParaRPr lang="zh-CN" altLang="en-US" dirty="0"/>
          </a:p>
        </p:txBody>
      </p:sp>
      <p:sp>
        <p:nvSpPr>
          <p:cNvPr id="14" name="椭圆 13"/>
          <p:cNvSpPr/>
          <p:nvPr/>
        </p:nvSpPr>
        <p:spPr>
          <a:xfrm>
            <a:off x="6391926" y="3427098"/>
            <a:ext cx="1677880" cy="167788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FPGA</a:t>
            </a:r>
            <a:r>
              <a:rPr lang="zh-CN" altLang="en-US" dirty="0" smtClean="0"/>
              <a:t>加速器设备提供者</a:t>
            </a:r>
            <a:endParaRPr lang="zh-CN" altLang="en-US" dirty="0"/>
          </a:p>
        </p:txBody>
      </p:sp>
      <p:sp>
        <p:nvSpPr>
          <p:cNvPr id="15" name="椭圆 14"/>
          <p:cNvSpPr/>
          <p:nvPr/>
        </p:nvSpPr>
        <p:spPr>
          <a:xfrm>
            <a:off x="10076953" y="3581424"/>
            <a:ext cx="1773940" cy="177394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业务应用算法提供者</a:t>
            </a:r>
          </a:p>
        </p:txBody>
      </p:sp>
      <p:cxnSp>
        <p:nvCxnSpPr>
          <p:cNvPr id="17" name="直接箭头连接符 16"/>
          <p:cNvCxnSpPr>
            <a:stCxn id="14" idx="0"/>
          </p:cNvCxnSpPr>
          <p:nvPr/>
        </p:nvCxnSpPr>
        <p:spPr>
          <a:xfrm flipV="1">
            <a:off x="7230866" y="2324870"/>
            <a:ext cx="927715" cy="1102228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 rot="18697445">
            <a:off x="6778319" y="2567102"/>
            <a:ext cx="1535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FPGA</a:t>
            </a:r>
            <a:r>
              <a:rPr lang="zh-CN" altLang="en-US" dirty="0" smtClean="0"/>
              <a:t>加速器</a:t>
            </a:r>
            <a:endParaRPr lang="zh-CN" altLang="en-US" dirty="0"/>
          </a:p>
        </p:txBody>
      </p:sp>
      <p:cxnSp>
        <p:nvCxnSpPr>
          <p:cNvPr id="19" name="直接箭头连接符 18"/>
          <p:cNvCxnSpPr/>
          <p:nvPr/>
        </p:nvCxnSpPr>
        <p:spPr>
          <a:xfrm>
            <a:off x="8131948" y="4296032"/>
            <a:ext cx="1686755" cy="3039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 rot="13975617" flipV="1">
            <a:off x="9586797" y="2723435"/>
            <a:ext cx="1989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业务加速</a:t>
            </a:r>
            <a:r>
              <a:rPr lang="en-US" altLang="zh-CN" dirty="0" smtClean="0"/>
              <a:t>FPGA IP</a:t>
            </a:r>
            <a:endParaRPr lang="zh-CN" altLang="en-US" dirty="0"/>
          </a:p>
        </p:txBody>
      </p:sp>
      <p:cxnSp>
        <p:nvCxnSpPr>
          <p:cNvPr id="28" name="直接箭头连接符 27"/>
          <p:cNvCxnSpPr/>
          <p:nvPr/>
        </p:nvCxnSpPr>
        <p:spPr>
          <a:xfrm flipH="1" flipV="1">
            <a:off x="9853188" y="2565341"/>
            <a:ext cx="764748" cy="1068469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8001515" y="4522796"/>
            <a:ext cx="2114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FPGA</a:t>
            </a:r>
            <a:r>
              <a:rPr lang="zh-CN" altLang="en-US" dirty="0" smtClean="0"/>
              <a:t>加速器开发包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613739" y="3483781"/>
            <a:ext cx="55985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rgbClr val="0070C0"/>
                </a:solidFill>
              </a:rPr>
              <a:t>业务应用算法提供者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dirty="0" smtClean="0"/>
              <a:t> </a:t>
            </a:r>
            <a:r>
              <a:rPr lang="zh-CN" altLang="en-US" dirty="0" smtClean="0"/>
              <a:t>基于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加速器开发包，开发加速</a:t>
            </a:r>
            <a:r>
              <a:rPr lang="en-US" altLang="zh-CN" dirty="0" smtClean="0"/>
              <a:t>IP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dirty="0" smtClean="0"/>
              <a:t> </a:t>
            </a:r>
            <a:r>
              <a:rPr lang="zh-CN" altLang="en-US" dirty="0" smtClean="0"/>
              <a:t>向</a:t>
            </a:r>
            <a:r>
              <a:rPr lang="en-US" altLang="zh-CN" dirty="0" smtClean="0"/>
              <a:t>FPGA PaaS</a:t>
            </a:r>
            <a:r>
              <a:rPr lang="zh-CN" altLang="en-US" dirty="0" smtClean="0"/>
              <a:t>云服务提供者构建的算法</a:t>
            </a:r>
            <a:r>
              <a:rPr lang="en-US" altLang="zh-CN" dirty="0" smtClean="0"/>
              <a:t>IP</a:t>
            </a:r>
            <a:r>
              <a:rPr lang="zh-CN" altLang="en-US" dirty="0" smtClean="0"/>
              <a:t>仓库提交</a:t>
            </a:r>
            <a:r>
              <a:rPr lang="en-US" altLang="zh-CN" dirty="0" smtClean="0"/>
              <a:t>IP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dirty="0" smtClean="0"/>
              <a:t>算法</a:t>
            </a:r>
            <a:r>
              <a:rPr lang="en-US" altLang="zh-CN" dirty="0" smtClean="0"/>
              <a:t>IP </a:t>
            </a:r>
            <a:r>
              <a:rPr lang="en-US" altLang="zh-CN" dirty="0" err="1" smtClean="0"/>
              <a:t>bitstream</a:t>
            </a:r>
            <a:r>
              <a:rPr lang="zh-CN" altLang="en-US" dirty="0" smtClean="0"/>
              <a:t>包含</a:t>
            </a:r>
            <a:r>
              <a:rPr lang="en-US" altLang="zh-CN" dirty="0" smtClean="0"/>
              <a:t>Shell ID</a:t>
            </a:r>
            <a:r>
              <a:rPr lang="zh-CN" altLang="en-US" dirty="0" smtClean="0"/>
              <a:t>和</a:t>
            </a:r>
            <a:r>
              <a:rPr lang="en-US" altLang="zh-CN" dirty="0" smtClean="0"/>
              <a:t>AFU ID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614943" y="2264549"/>
            <a:ext cx="55985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rgbClr val="0070C0"/>
                </a:solidFill>
              </a:rPr>
              <a:t>FPGA</a:t>
            </a:r>
            <a:r>
              <a:rPr lang="zh-CN" altLang="en-US" dirty="0" smtClean="0">
                <a:solidFill>
                  <a:srgbClr val="0070C0"/>
                </a:solidFill>
              </a:rPr>
              <a:t>加速器设备提供者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dirty="0" smtClean="0"/>
              <a:t> </a:t>
            </a:r>
            <a:r>
              <a:rPr lang="zh-CN" altLang="en-US" dirty="0" smtClean="0"/>
              <a:t>向</a:t>
            </a:r>
            <a:r>
              <a:rPr lang="en-US" altLang="zh-CN" dirty="0" smtClean="0"/>
              <a:t>FPGA PaaS</a:t>
            </a:r>
            <a:r>
              <a:rPr lang="zh-CN" altLang="en-US" dirty="0" smtClean="0"/>
              <a:t>云服务商提供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加速器设备</a:t>
            </a:r>
            <a:endParaRPr lang="en-US" altLang="zh-CN" dirty="0" smtClean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dirty="0" smtClean="0"/>
              <a:t>向业务应用算法提供者，提供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加速器开发包，开发业务应用</a:t>
            </a:r>
            <a:r>
              <a:rPr lang="en-US" altLang="zh-CN" dirty="0" smtClean="0"/>
              <a:t>IP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 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0" y="685800"/>
            <a:ext cx="12192000" cy="754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819477" y="5823427"/>
            <a:ext cx="3509459" cy="92333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业务应用算法提供者 可能与 </a:t>
            </a:r>
            <a:r>
              <a:rPr lang="en-US" altLang="zh-CN" dirty="0" smtClean="0"/>
              <a:t>FPGA PaaS</a:t>
            </a:r>
            <a:r>
              <a:rPr lang="zh-CN" altLang="en-US" dirty="0" smtClean="0"/>
              <a:t>云服务提供者 在同一个公司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482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685800"/>
            <a:ext cx="12192000" cy="754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s://china.xilinx.com/content/dam/xilinx/imgs/products/vitis/vitis-accelerated-librari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659" y="1121690"/>
            <a:ext cx="8663305" cy="5050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302217" y="1611824"/>
            <a:ext cx="21310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基础功能库</a:t>
            </a:r>
            <a:r>
              <a:rPr lang="en-US" altLang="zh-CN" dirty="0" smtClean="0"/>
              <a:t>Common Libraries;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/>
              <a:t>特定</a:t>
            </a:r>
            <a:r>
              <a:rPr lang="zh-CN" altLang="en-US" dirty="0" smtClean="0"/>
              <a:t>领域库</a:t>
            </a:r>
            <a:r>
              <a:rPr lang="en-US" altLang="zh-CN" dirty="0" smtClean="0"/>
              <a:t>Domain-Specific Libraries</a:t>
            </a:r>
            <a:endParaRPr lang="zh-CN" altLang="en-US" dirty="0"/>
          </a:p>
        </p:txBody>
      </p:sp>
      <p:sp>
        <p:nvSpPr>
          <p:cNvPr id="6" name="文本框 2"/>
          <p:cNvSpPr txBox="1"/>
          <p:nvPr/>
        </p:nvSpPr>
        <p:spPr>
          <a:xfrm>
            <a:off x="583345" y="139235"/>
            <a:ext cx="11277599" cy="52321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>
            <a:defPPr>
              <a:defRPr lang="zh-CN"/>
            </a:defPPr>
            <a:lvl1pPr defTabSz="91440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hangingPunct="0"/>
            <a:r>
              <a:rPr lang="en-US" altLang="zh-CN" sz="2800" dirty="0" smtClean="0">
                <a:solidFill>
                  <a:srgbClr val="0070C0"/>
                </a:solidFill>
                <a:cs typeface="+mj-cs"/>
                <a:sym typeface="+mn-lt"/>
              </a:rPr>
              <a:t>FPGA PaaS </a:t>
            </a:r>
            <a:r>
              <a:rPr lang="zh-CN" altLang="en-US" sz="2800" dirty="0" smtClean="0">
                <a:solidFill>
                  <a:srgbClr val="0070C0"/>
                </a:solidFill>
                <a:cs typeface="+mj-cs"/>
                <a:sym typeface="+mn-lt"/>
              </a:rPr>
              <a:t>加速库类别</a:t>
            </a:r>
            <a:endParaRPr lang="zh-CN" altLang="en-US" sz="2800" dirty="0">
              <a:solidFill>
                <a:srgbClr val="0070C0"/>
              </a:solidFill>
              <a:cs typeface="+mj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6860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614341" y="0"/>
            <a:ext cx="11277599" cy="52321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>
            <a:defPPr>
              <a:defRPr lang="zh-CN"/>
            </a:defPPr>
            <a:lvl1pPr defTabSz="91440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hangingPunct="0"/>
            <a:r>
              <a:rPr lang="en-US" altLang="zh-CN" sz="2800" dirty="0" smtClean="0">
                <a:solidFill>
                  <a:srgbClr val="0070C0"/>
                </a:solidFill>
                <a:cs typeface="+mj-cs"/>
                <a:sym typeface="+mn-lt"/>
              </a:rPr>
              <a:t>FPGA PaaS </a:t>
            </a:r>
            <a:r>
              <a:rPr lang="zh-CN" altLang="en-US" sz="2800" dirty="0" smtClean="0">
                <a:solidFill>
                  <a:srgbClr val="0070C0"/>
                </a:solidFill>
                <a:cs typeface="+mj-cs"/>
                <a:sym typeface="+mn-lt"/>
              </a:rPr>
              <a:t>服务流程</a:t>
            </a:r>
            <a:endParaRPr lang="zh-CN" altLang="en-US" sz="2800" dirty="0">
              <a:solidFill>
                <a:srgbClr val="0070C0"/>
              </a:solidFill>
              <a:cs typeface="+mj-cs"/>
              <a:sym typeface="+mn-lt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0" y="685800"/>
            <a:ext cx="12192000" cy="754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14340" y="1053885"/>
            <a:ext cx="10466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用户申请</a:t>
            </a:r>
            <a:r>
              <a:rPr lang="en-US" altLang="zh-CN" dirty="0" smtClean="0"/>
              <a:t>FPGA PaaS</a:t>
            </a:r>
            <a:r>
              <a:rPr lang="zh-CN" altLang="en-US" dirty="0" smtClean="0"/>
              <a:t>服务</a:t>
            </a:r>
            <a:endParaRPr lang="en-US" altLang="zh-CN" dirty="0" smtClean="0"/>
          </a:p>
          <a:p>
            <a:r>
              <a:rPr lang="en-US" altLang="zh-CN" dirty="0" smtClean="0"/>
              <a:t>   - </a:t>
            </a:r>
            <a:r>
              <a:rPr lang="zh-CN" altLang="en-US" dirty="0" smtClean="0"/>
              <a:t>描述虚拟机配置信息（</a:t>
            </a:r>
            <a:r>
              <a:rPr lang="en-US" altLang="zh-CN" dirty="0" smtClean="0"/>
              <a:t>CPU</a:t>
            </a:r>
            <a:r>
              <a:rPr lang="zh-CN" altLang="en-US" dirty="0" smtClean="0"/>
              <a:t>、内存、存储）</a:t>
            </a:r>
            <a:r>
              <a:rPr lang="en-US" altLang="zh-CN" dirty="0" smtClean="0"/>
              <a:t>+  </a:t>
            </a: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</a:rPr>
              <a:t>个或多个加速功能。（领域特定功能</a:t>
            </a:r>
            <a:r>
              <a:rPr lang="en-US" altLang="zh-CN" dirty="0" smtClean="0">
                <a:solidFill>
                  <a:srgbClr val="FF0000"/>
                </a:solidFill>
              </a:rPr>
              <a:t>+</a:t>
            </a:r>
            <a:r>
              <a:rPr lang="zh-CN" altLang="en-US" dirty="0" smtClean="0">
                <a:solidFill>
                  <a:srgbClr val="FF0000"/>
                </a:solidFill>
              </a:rPr>
              <a:t>基础功能）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14341" y="2060756"/>
            <a:ext cx="89946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云数据中心响应申请</a:t>
            </a:r>
            <a:endParaRPr lang="en-US" altLang="zh-CN" dirty="0" smtClean="0"/>
          </a:p>
          <a:p>
            <a:r>
              <a:rPr lang="en-US" altLang="zh-CN" dirty="0" smtClean="0"/>
              <a:t>   - </a:t>
            </a:r>
            <a:r>
              <a:rPr lang="zh-CN" altLang="en-US" dirty="0" smtClean="0"/>
              <a:t>找寻符合申请要求的主机，包含所需的</a:t>
            </a:r>
            <a:r>
              <a:rPr lang="en-US" altLang="zh-CN" dirty="0" smtClean="0"/>
              <a:t>CPU&amp;</a:t>
            </a:r>
            <a:r>
              <a:rPr lang="zh-CN" altLang="en-US" dirty="0" smtClean="0"/>
              <a:t>内存以及</a:t>
            </a:r>
            <a:r>
              <a:rPr lang="zh-CN" altLang="en-US" dirty="0" smtClean="0">
                <a:solidFill>
                  <a:srgbClr val="FF0000"/>
                </a:solidFill>
              </a:rPr>
              <a:t>包含所需加速功能的</a:t>
            </a:r>
            <a:r>
              <a:rPr lang="en-US" altLang="zh-CN" dirty="0" smtClean="0">
                <a:solidFill>
                  <a:srgbClr val="FF0000"/>
                </a:solidFill>
              </a:rPr>
              <a:t>FPGA</a:t>
            </a:r>
            <a:r>
              <a:rPr lang="zh-CN" altLang="en-US" dirty="0" smtClean="0">
                <a:solidFill>
                  <a:srgbClr val="FF0000"/>
                </a:solidFill>
              </a:rPr>
              <a:t>设备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此处假设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设备安插在主板</a:t>
            </a:r>
            <a:r>
              <a:rPr lang="en-US" altLang="zh-CN" dirty="0" err="1" smtClean="0"/>
              <a:t>PCIe</a:t>
            </a:r>
            <a:r>
              <a:rPr lang="zh-CN" altLang="en-US" dirty="0" smtClean="0"/>
              <a:t>插槽上，如果可远程连接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，则主机与设备相组合，更具灵活性，另一方面因远程访问，导致性能差些。</a:t>
            </a:r>
            <a:endParaRPr lang="en-US" altLang="zh-CN" dirty="0"/>
          </a:p>
          <a:p>
            <a:r>
              <a:rPr lang="en-US" altLang="zh-CN" dirty="0" smtClean="0"/>
              <a:t>   - </a:t>
            </a:r>
            <a:r>
              <a:rPr lang="zh-CN" altLang="en-US" dirty="0" smtClean="0"/>
              <a:t>在主机创建虚拟机，并把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设备透传给虚拟机</a:t>
            </a:r>
            <a:endParaRPr lang="en-US" altLang="zh-CN" dirty="0" smtClean="0"/>
          </a:p>
        </p:txBody>
      </p:sp>
      <p:sp>
        <p:nvSpPr>
          <p:cNvPr id="22" name="文本框 21"/>
          <p:cNvSpPr txBox="1"/>
          <p:nvPr/>
        </p:nvSpPr>
        <p:spPr>
          <a:xfrm>
            <a:off x="614341" y="3898624"/>
            <a:ext cx="8994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3.</a:t>
            </a:r>
            <a:r>
              <a:rPr lang="zh-CN" altLang="en-US" dirty="0" smtClean="0"/>
              <a:t>用户获得虚拟机后，可看到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设备。通过我们提供的驱动和运行时库，提供</a:t>
            </a:r>
            <a:r>
              <a:rPr lang="en-US" altLang="zh-CN" dirty="0" smtClean="0"/>
              <a:t>API</a:t>
            </a:r>
            <a:r>
              <a:rPr lang="zh-CN" altLang="en-US" dirty="0" smtClean="0"/>
              <a:t>可查询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设备包含的功能类别及数目。用户可通过我们提供的</a:t>
            </a:r>
            <a:r>
              <a:rPr lang="en-US" altLang="zh-CN" dirty="0" smtClean="0"/>
              <a:t>API</a:t>
            </a:r>
            <a:r>
              <a:rPr lang="zh-CN" altLang="en-US" dirty="0" smtClean="0"/>
              <a:t>使用这些功能，并集成到自己的应用程序中，对用户的应用进行加速。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34632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31376" y="2731087"/>
            <a:ext cx="69720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利用率低：在云端部署的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多为高端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芯片，片上具备丰富的资源，若只包含一个功能，导致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芯片利用率不高。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接口不一致：若不同功能暴露的接口不一致，就需不同的设备驱动和运行时库，不方便统一管理，管理运维成本高。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FPGA</a:t>
            </a:r>
            <a:r>
              <a:rPr lang="zh-CN" altLang="en-US" dirty="0" smtClean="0"/>
              <a:t>设备的功能是静态的：否可按需动态改变？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纳入云数据中心管理系统</a:t>
            </a:r>
            <a:r>
              <a:rPr lang="en-US" altLang="zh-CN" dirty="0"/>
              <a:t>OpenStack(</a:t>
            </a:r>
            <a:r>
              <a:rPr lang="zh-CN" altLang="en-US" dirty="0"/>
              <a:t>虚拟机</a:t>
            </a:r>
            <a:r>
              <a:rPr lang="en-US" altLang="zh-CN" dirty="0"/>
              <a:t>)</a:t>
            </a:r>
            <a:r>
              <a:rPr lang="zh-CN" altLang="en-US" dirty="0"/>
              <a:t>和</a:t>
            </a:r>
            <a:r>
              <a:rPr lang="en-US" altLang="zh-CN" dirty="0"/>
              <a:t>Kubernetes(</a:t>
            </a:r>
            <a:r>
              <a:rPr lang="zh-CN" altLang="en-US" dirty="0"/>
              <a:t>容器</a:t>
            </a:r>
            <a:r>
              <a:rPr lang="en-US" altLang="zh-CN" dirty="0" smtClean="0"/>
              <a:t>)</a:t>
            </a:r>
            <a:r>
              <a:rPr lang="zh-CN" altLang="en-US" dirty="0" smtClean="0"/>
              <a:t>自动运维管理？</a:t>
            </a:r>
            <a:endParaRPr lang="en-US" altLang="zh-CN" dirty="0"/>
          </a:p>
        </p:txBody>
      </p:sp>
      <p:sp>
        <p:nvSpPr>
          <p:cNvPr id="4" name="文本框 2"/>
          <p:cNvSpPr txBox="1"/>
          <p:nvPr/>
        </p:nvSpPr>
        <p:spPr>
          <a:xfrm>
            <a:off x="606592" y="85241"/>
            <a:ext cx="11277599" cy="52321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>
            <a:defPPr>
              <a:defRPr lang="zh-CN"/>
            </a:defPPr>
            <a:lvl1pPr defTabSz="91440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hangingPunct="0"/>
            <a:r>
              <a:rPr lang="en-US" altLang="zh-CN" sz="2800" dirty="0" smtClean="0">
                <a:solidFill>
                  <a:srgbClr val="0070C0"/>
                </a:solidFill>
                <a:cs typeface="+mj-cs"/>
                <a:sym typeface="+mn-lt"/>
              </a:rPr>
              <a:t>FPGA PaaS </a:t>
            </a:r>
            <a:r>
              <a:rPr lang="zh-CN" altLang="en-US" sz="2800" dirty="0">
                <a:solidFill>
                  <a:srgbClr val="0070C0"/>
                </a:solidFill>
                <a:cs typeface="+mj-cs"/>
                <a:sym typeface="+mn-lt"/>
              </a:rPr>
              <a:t>实现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685800"/>
            <a:ext cx="12192000" cy="754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20671" y="875654"/>
            <a:ext cx="9058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rgbClr val="0070C0"/>
                </a:solidFill>
              </a:rPr>
              <a:t>简单实现：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每个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设备包含一个完备的加速功能，包括领域特定功能</a:t>
            </a:r>
            <a:r>
              <a:rPr lang="zh-CN" altLang="en-US" dirty="0"/>
              <a:t>或</a:t>
            </a:r>
            <a:r>
              <a:rPr lang="zh-CN" altLang="en-US" dirty="0" smtClean="0"/>
              <a:t>基础功能。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20671" y="2185262"/>
            <a:ext cx="204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rgbClr val="0070C0"/>
                </a:solidFill>
              </a:rPr>
              <a:t>缺点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371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606592" y="85241"/>
            <a:ext cx="11277599" cy="52321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>
            <a:defPPr>
              <a:defRPr lang="zh-CN"/>
            </a:defPPr>
            <a:lvl1pPr defTabSz="91440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hangingPunct="0"/>
            <a:r>
              <a:rPr lang="en-US" altLang="zh-CN" sz="2800" dirty="0" smtClean="0">
                <a:solidFill>
                  <a:srgbClr val="0070C0"/>
                </a:solidFill>
                <a:cs typeface="+mj-cs"/>
                <a:sym typeface="+mn-lt"/>
              </a:rPr>
              <a:t>FPGA PaaS </a:t>
            </a:r>
            <a:r>
              <a:rPr lang="zh-CN" altLang="en-US" sz="2800" dirty="0">
                <a:solidFill>
                  <a:srgbClr val="0070C0"/>
                </a:solidFill>
                <a:cs typeface="+mj-cs"/>
                <a:sym typeface="+mn-lt"/>
              </a:rPr>
              <a:t>实现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685800"/>
            <a:ext cx="12192000" cy="754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20671" y="875654"/>
            <a:ext cx="90587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rgbClr val="0070C0"/>
                </a:solidFill>
              </a:rPr>
              <a:t>实现进阶</a:t>
            </a:r>
            <a:r>
              <a:rPr lang="en-US" altLang="zh-CN" dirty="0" smtClean="0">
                <a:solidFill>
                  <a:srgbClr val="0070C0"/>
                </a:solidFill>
              </a:rPr>
              <a:t>-1</a:t>
            </a:r>
            <a:r>
              <a:rPr lang="zh-CN" altLang="en-US" dirty="0" smtClean="0">
                <a:solidFill>
                  <a:srgbClr val="0070C0"/>
                </a:solidFill>
              </a:rPr>
              <a:t>：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每个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设备使能</a:t>
            </a:r>
            <a:r>
              <a:rPr lang="en-US" altLang="zh-CN" dirty="0" err="1" smtClean="0"/>
              <a:t>PCIe</a:t>
            </a:r>
            <a:r>
              <a:rPr lang="en-US" altLang="zh-CN" dirty="0" smtClean="0"/>
              <a:t> SR-IOV</a:t>
            </a:r>
            <a:r>
              <a:rPr lang="zh-CN" altLang="en-US" dirty="0" smtClean="0"/>
              <a:t>功能，例化多个</a:t>
            </a:r>
            <a:r>
              <a:rPr lang="en-US" altLang="zh-CN" dirty="0" smtClean="0"/>
              <a:t>VF</a:t>
            </a:r>
            <a:r>
              <a:rPr lang="zh-CN" altLang="en-US" dirty="0" smtClean="0"/>
              <a:t>，包含多个加速功能。</a:t>
            </a:r>
            <a:r>
              <a:rPr lang="en-US" altLang="zh-CN" dirty="0"/>
              <a:t> VF</a:t>
            </a:r>
            <a:r>
              <a:rPr lang="zh-CN" altLang="en-US" dirty="0"/>
              <a:t>可通过动态绑定与不同功能进行</a:t>
            </a:r>
            <a:r>
              <a:rPr lang="zh-CN" altLang="en-US" dirty="0" smtClean="0"/>
              <a:t>结合。</a:t>
            </a:r>
            <a:endParaRPr lang="en-US" altLang="zh-CN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每个</a:t>
            </a:r>
            <a:r>
              <a:rPr lang="en-US" altLang="zh-CN" dirty="0" smtClean="0"/>
              <a:t>VF</a:t>
            </a:r>
            <a:r>
              <a:rPr lang="zh-CN" altLang="en-US" dirty="0" smtClean="0"/>
              <a:t>都遵从</a:t>
            </a:r>
            <a:r>
              <a:rPr lang="en-US" altLang="zh-CN" dirty="0" err="1" smtClean="0"/>
              <a:t>VirtIO</a:t>
            </a:r>
            <a:r>
              <a:rPr lang="zh-CN" altLang="en-US" dirty="0" smtClean="0"/>
              <a:t>规范，把接口抽象出</a:t>
            </a:r>
            <a:r>
              <a:rPr lang="en-US" altLang="zh-CN" dirty="0" smtClean="0"/>
              <a:t>3</a:t>
            </a:r>
            <a:r>
              <a:rPr lang="zh-CN" altLang="en-US" dirty="0" smtClean="0"/>
              <a:t>类：</a:t>
            </a:r>
            <a:r>
              <a:rPr lang="zh-CN" altLang="en-US" dirty="0" smtClean="0">
                <a:solidFill>
                  <a:srgbClr val="FF0000"/>
                </a:solidFill>
              </a:rPr>
              <a:t>寄存器访问接口、</a:t>
            </a:r>
            <a:r>
              <a:rPr lang="en-US" altLang="zh-CN" dirty="0" smtClean="0">
                <a:solidFill>
                  <a:srgbClr val="FF0000"/>
                </a:solidFill>
              </a:rPr>
              <a:t>DMA</a:t>
            </a:r>
            <a:r>
              <a:rPr lang="zh-CN" altLang="en-US" dirty="0" smtClean="0">
                <a:solidFill>
                  <a:srgbClr val="FF0000"/>
                </a:solidFill>
              </a:rPr>
              <a:t>数据传输接口和中断接口</a:t>
            </a:r>
            <a:r>
              <a:rPr lang="zh-CN" altLang="en-US" dirty="0" smtClean="0"/>
              <a:t>。运维只需维护一套设备驱动和运行时库。</a:t>
            </a:r>
            <a:endParaRPr lang="en-US" altLang="zh-CN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加速功能被放置在动态区，可根据需要进行重配置，使功能发生改变。。</a:t>
            </a:r>
            <a:endParaRPr lang="en-US" altLang="zh-CN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这时存在两个选择，一个动态区存放所有加速功能（资源利用率高，灵活性差），还是一个功能一个动态区（灵活性高，每个动态区可独立配置，但占资源）。各有优缺点。</a:t>
            </a:r>
            <a:endParaRPr lang="en-US" altLang="zh-CN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OpenStack</a:t>
            </a:r>
            <a:r>
              <a:rPr lang="zh-CN" altLang="en-US" dirty="0" smtClean="0"/>
              <a:t>有</a:t>
            </a:r>
            <a:r>
              <a:rPr lang="en-US" altLang="zh-CN" dirty="0" smtClean="0"/>
              <a:t>Cyborg</a:t>
            </a:r>
            <a:r>
              <a:rPr lang="zh-CN" altLang="en-US" dirty="0" smtClean="0"/>
              <a:t>组件负责异构设备管理，</a:t>
            </a:r>
            <a:r>
              <a:rPr lang="en-US" altLang="zh-CN" dirty="0" smtClean="0"/>
              <a:t>Kubernetes</a:t>
            </a:r>
            <a:r>
              <a:rPr lang="zh-CN" altLang="en-US" dirty="0" smtClean="0"/>
              <a:t>有设备插件功能负责设备管理。</a:t>
            </a:r>
            <a:endParaRPr lang="en-US" altLang="zh-CN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52747" y="4245807"/>
            <a:ext cx="8994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云数据中心响应申请</a:t>
            </a:r>
            <a:endParaRPr lang="en-US" altLang="zh-CN" dirty="0" smtClean="0"/>
          </a:p>
          <a:p>
            <a:r>
              <a:rPr lang="en-US" altLang="zh-CN" dirty="0" smtClean="0"/>
              <a:t>   - </a:t>
            </a:r>
            <a:r>
              <a:rPr lang="zh-CN" altLang="en-US" dirty="0" smtClean="0"/>
              <a:t>找寻符合申请要求的主机，包含所需的</a:t>
            </a:r>
            <a:r>
              <a:rPr lang="en-US" altLang="zh-CN" dirty="0" smtClean="0"/>
              <a:t>CPU&amp;</a:t>
            </a:r>
            <a:r>
              <a:rPr lang="zh-CN" altLang="en-US" dirty="0" smtClean="0"/>
              <a:t>内存以及</a:t>
            </a:r>
            <a:r>
              <a:rPr lang="zh-CN" altLang="en-US" dirty="0" smtClean="0">
                <a:solidFill>
                  <a:srgbClr val="FF0000"/>
                </a:solidFill>
              </a:rPr>
              <a:t>包含所需加速功能的</a:t>
            </a:r>
            <a:r>
              <a:rPr lang="en-US" altLang="zh-CN" dirty="0" smtClean="0">
                <a:solidFill>
                  <a:srgbClr val="FF0000"/>
                </a:solidFill>
              </a:rPr>
              <a:t>FPGA</a:t>
            </a:r>
            <a:r>
              <a:rPr lang="zh-CN" altLang="en-US" dirty="0" smtClean="0">
                <a:solidFill>
                  <a:srgbClr val="FF0000"/>
                </a:solidFill>
              </a:rPr>
              <a:t>设备</a:t>
            </a:r>
            <a:r>
              <a:rPr lang="zh-CN" altLang="en-US" dirty="0" smtClean="0"/>
              <a:t>。 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- </a:t>
            </a:r>
            <a:r>
              <a:rPr lang="zh-CN" altLang="en-US" dirty="0" smtClean="0"/>
              <a:t>配置</a:t>
            </a:r>
            <a:r>
              <a:rPr lang="en-US" altLang="zh-CN" dirty="0" smtClean="0"/>
              <a:t>VF</a:t>
            </a:r>
            <a:r>
              <a:rPr lang="zh-CN" altLang="en-US" dirty="0" smtClean="0"/>
              <a:t>，绑定所需的加速功能。</a:t>
            </a:r>
            <a:endParaRPr lang="en-US" altLang="zh-CN" dirty="0" smtClean="0"/>
          </a:p>
          <a:p>
            <a:r>
              <a:rPr lang="en-US" altLang="zh-CN" dirty="0" smtClean="0"/>
              <a:t>   - </a:t>
            </a:r>
            <a:r>
              <a:rPr lang="zh-CN" altLang="en-US" dirty="0" smtClean="0"/>
              <a:t>在主机创建虚拟机，并把</a:t>
            </a:r>
            <a:r>
              <a:rPr lang="en-US" altLang="zh-CN" dirty="0" smtClean="0"/>
              <a:t>FPGA VF</a:t>
            </a:r>
            <a:r>
              <a:rPr lang="zh-CN" altLang="en-US" dirty="0" smtClean="0"/>
              <a:t>设备透传给虚拟机。</a:t>
            </a:r>
            <a:endParaRPr lang="en-US" altLang="zh-CN" dirty="0" smtClean="0"/>
          </a:p>
        </p:txBody>
      </p:sp>
      <p:sp>
        <p:nvSpPr>
          <p:cNvPr id="9" name="文本框 8"/>
          <p:cNvSpPr txBox="1"/>
          <p:nvPr/>
        </p:nvSpPr>
        <p:spPr>
          <a:xfrm>
            <a:off x="606592" y="5446136"/>
            <a:ext cx="95624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rgbClr val="0070C0"/>
                </a:solidFill>
              </a:rPr>
              <a:t>缺点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VF</a:t>
            </a:r>
            <a:r>
              <a:rPr lang="zh-CN" altLang="en-US" dirty="0" smtClean="0"/>
              <a:t>不够灵活。</a:t>
            </a:r>
            <a:r>
              <a:rPr lang="en-US" altLang="zh-CN" dirty="0" smtClean="0"/>
              <a:t>VF</a:t>
            </a:r>
            <a:r>
              <a:rPr lang="zh-CN" altLang="en-US" dirty="0" smtClean="0"/>
              <a:t>创建后其定义的寄存器访问接口、</a:t>
            </a:r>
            <a:r>
              <a:rPr lang="en-US" altLang="zh-CN" dirty="0" smtClean="0"/>
              <a:t>DMA</a:t>
            </a:r>
            <a:r>
              <a:rPr lang="zh-CN" altLang="en-US" dirty="0" smtClean="0"/>
              <a:t>数据传输接口和中断接口就固定了，若接口不满足加速功能要求，就会造成绑定失败。比如</a:t>
            </a:r>
            <a:r>
              <a:rPr lang="en-US" altLang="zh-CN" dirty="0" smtClean="0"/>
              <a:t>VF</a:t>
            </a:r>
            <a:r>
              <a:rPr lang="zh-CN" altLang="en-US" dirty="0" smtClean="0"/>
              <a:t>定义的中断接口为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个，一个加速模块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个，另一个加速模块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个，则此</a:t>
            </a:r>
            <a:r>
              <a:rPr lang="en-US" altLang="zh-CN" dirty="0" smtClean="0"/>
              <a:t>VF</a:t>
            </a:r>
            <a:r>
              <a:rPr lang="zh-CN" altLang="en-US" dirty="0" smtClean="0"/>
              <a:t>就不满足要求。</a:t>
            </a:r>
            <a:endParaRPr lang="en-US" altLang="zh-CN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2289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606592" y="85241"/>
            <a:ext cx="11277599" cy="52321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>
            <a:defPPr>
              <a:defRPr lang="zh-CN"/>
            </a:defPPr>
            <a:lvl1pPr defTabSz="91440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hangingPunct="0"/>
            <a:r>
              <a:rPr lang="en-US" altLang="zh-CN" sz="2800" dirty="0" smtClean="0">
                <a:solidFill>
                  <a:srgbClr val="0070C0"/>
                </a:solidFill>
                <a:cs typeface="+mj-cs"/>
                <a:sym typeface="+mn-lt"/>
              </a:rPr>
              <a:t>FPGA PaaS </a:t>
            </a:r>
            <a:r>
              <a:rPr lang="zh-CN" altLang="en-US" sz="2800" dirty="0">
                <a:solidFill>
                  <a:srgbClr val="0070C0"/>
                </a:solidFill>
                <a:cs typeface="+mj-cs"/>
                <a:sym typeface="+mn-lt"/>
              </a:rPr>
              <a:t>实现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685800"/>
            <a:ext cx="12192000" cy="754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41701" y="685800"/>
            <a:ext cx="90587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rgbClr val="0070C0"/>
                </a:solidFill>
              </a:rPr>
              <a:t>实现进阶</a:t>
            </a:r>
            <a:r>
              <a:rPr lang="en-US" altLang="zh-CN" dirty="0" smtClean="0">
                <a:solidFill>
                  <a:srgbClr val="0070C0"/>
                </a:solidFill>
              </a:rPr>
              <a:t>-2</a:t>
            </a:r>
            <a:r>
              <a:rPr lang="zh-CN" altLang="en-US" dirty="0" smtClean="0">
                <a:solidFill>
                  <a:srgbClr val="0070C0"/>
                </a:solidFill>
              </a:rPr>
              <a:t>：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每个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设备使能</a:t>
            </a:r>
            <a:r>
              <a:rPr lang="en-US" altLang="zh-CN" dirty="0" smtClean="0">
                <a:solidFill>
                  <a:srgbClr val="FF0000"/>
                </a:solidFill>
              </a:rPr>
              <a:t>SIOV(Scalable I/O Virtualization)</a:t>
            </a:r>
            <a:r>
              <a:rPr lang="zh-CN" altLang="en-US" dirty="0" smtClean="0">
                <a:solidFill>
                  <a:srgbClr val="FF0000"/>
                </a:solidFill>
              </a:rPr>
              <a:t>功能</a:t>
            </a:r>
            <a:r>
              <a:rPr lang="zh-CN" altLang="en-US" dirty="0" smtClean="0"/>
              <a:t>，细化粒度更小，可例化出更多个可分配设备</a:t>
            </a:r>
            <a:r>
              <a:rPr lang="en-US" altLang="zh-CN" dirty="0" smtClean="0"/>
              <a:t>ADI</a:t>
            </a:r>
            <a:r>
              <a:rPr lang="zh-CN" altLang="en-US" dirty="0" smtClean="0"/>
              <a:t>（</a:t>
            </a:r>
            <a:r>
              <a:rPr lang="en-US" altLang="zh-CN" dirty="0" smtClean="0"/>
              <a:t>Assign Device Interface)</a:t>
            </a:r>
            <a:r>
              <a:rPr lang="zh-CN" altLang="en-US" dirty="0" smtClean="0"/>
              <a:t>。</a:t>
            </a:r>
            <a:r>
              <a:rPr lang="en-US" altLang="zh-CN" dirty="0" smtClean="0"/>
              <a:t> </a:t>
            </a:r>
          </a:p>
          <a:p>
            <a:pPr lvl="1"/>
            <a:endParaRPr lang="en-US" altLang="zh-CN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26942" y="2196358"/>
            <a:ext cx="10672011" cy="278482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t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+mn-lt"/>
                <a:ea typeface="+mn-ea"/>
                <a:cs typeface="宋体" charset="0"/>
              </a:defRPr>
            </a:lvl1pPr>
            <a:lvl2pPr marL="742950" indent="-285750" algn="l" rtl="0" eaLnBrk="0" fontAlgn="t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─"/>
              <a:defRPr>
                <a:solidFill>
                  <a:schemeClr val="tx1"/>
                </a:solidFill>
                <a:latin typeface="+mn-lt"/>
                <a:ea typeface="+mn-ea"/>
                <a:cs typeface="宋体" charset="0"/>
              </a:defRPr>
            </a:lvl2pPr>
            <a:lvl3pPr marL="1181100" indent="-266700" algn="l" rtl="0" eaLnBrk="0" fontAlgn="t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─"/>
              <a:defRPr sz="1600">
                <a:solidFill>
                  <a:schemeClr val="tx1"/>
                </a:solidFill>
                <a:latin typeface="+mn-lt"/>
                <a:ea typeface="+mn-ea"/>
                <a:cs typeface="宋体" charset="0"/>
              </a:defRPr>
            </a:lvl3pPr>
            <a:lvl4pPr marL="1638300" indent="-266700" algn="l" rtl="0" eaLnBrk="0" fontAlgn="t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─"/>
              <a:defRPr sz="1400">
                <a:solidFill>
                  <a:schemeClr val="tx1"/>
                </a:solidFill>
                <a:latin typeface="+mn-lt"/>
                <a:ea typeface="+mn-ea"/>
                <a:cs typeface="宋体" charset="0"/>
              </a:defRPr>
            </a:lvl4pPr>
            <a:lvl5pPr marL="2095500" indent="-266700" algn="l" rtl="0" eaLnBrk="0" fontAlgn="t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─"/>
              <a:defRPr sz="1200">
                <a:solidFill>
                  <a:schemeClr val="tx1"/>
                </a:solidFill>
                <a:latin typeface="+mn-lt"/>
                <a:ea typeface="+mn-ea"/>
                <a:cs typeface="宋体" charset="0"/>
              </a:defRPr>
            </a:lvl5pPr>
            <a:lvl6pPr marL="2552700" indent="-266700" algn="l" rtl="0" fontAlgn="t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9900" indent="-266700" algn="l" rtl="0" fontAlgn="t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7100" indent="-266700" algn="l" rtl="0" fontAlgn="t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4300" indent="-266700" algn="l" rtl="0" fontAlgn="t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  <a:defRPr/>
            </a:pPr>
            <a:r>
              <a:rPr lang="en-US" altLang="zh-CN" b="1" kern="0" dirty="0" smtClean="0"/>
              <a:t>1.</a:t>
            </a:r>
            <a:r>
              <a:rPr lang="zh-CN" altLang="en-US" b="1" kern="0" dirty="0" smtClean="0"/>
              <a:t>高可扩展</a:t>
            </a:r>
            <a:r>
              <a:rPr lang="zh-CN" altLang="en-US" kern="0" dirty="0" smtClean="0"/>
              <a:t>：</a:t>
            </a:r>
            <a:r>
              <a:rPr lang="en-US" altLang="zh-CN" kern="0" dirty="0" smtClean="0"/>
              <a:t>ADI</a:t>
            </a:r>
            <a:r>
              <a:rPr lang="zh-CN" altLang="en-US" kern="0" dirty="0" smtClean="0"/>
              <a:t>基于</a:t>
            </a:r>
            <a:r>
              <a:rPr lang="en-US" altLang="zh-CN" kern="0" dirty="0" smtClean="0"/>
              <a:t>PASID</a:t>
            </a:r>
            <a:r>
              <a:rPr lang="zh-CN" altLang="en-US" kern="0" dirty="0" smtClean="0"/>
              <a:t>扩展，可构建大量虚拟设备支持更多虚拟机对物理设备的访问</a:t>
            </a:r>
            <a:endParaRPr lang="en-US" altLang="zh-CN" kern="0" dirty="0" smtClean="0"/>
          </a:p>
          <a:p>
            <a:pPr marL="0" indent="0">
              <a:buNone/>
              <a:defRPr/>
            </a:pPr>
            <a:r>
              <a:rPr lang="en-US" altLang="zh-CN" b="1" kern="0" dirty="0" smtClean="0"/>
              <a:t>2.</a:t>
            </a:r>
            <a:r>
              <a:rPr lang="zh-CN" altLang="en-US" b="1" kern="0" dirty="0" smtClean="0"/>
              <a:t>配置灵活</a:t>
            </a:r>
            <a:r>
              <a:rPr lang="zh-CN" altLang="en-US" kern="0" dirty="0" smtClean="0"/>
              <a:t>：</a:t>
            </a:r>
            <a:r>
              <a:rPr lang="en-US" altLang="zh-CN" kern="0" dirty="0" smtClean="0"/>
              <a:t>VDCM</a:t>
            </a:r>
            <a:r>
              <a:rPr lang="zh-CN" altLang="en-US" kern="0" dirty="0" smtClean="0"/>
              <a:t>可以通过管理</a:t>
            </a:r>
            <a:r>
              <a:rPr lang="en-US" altLang="zh-CN" kern="0" dirty="0" smtClean="0"/>
              <a:t>ADI</a:t>
            </a:r>
            <a:r>
              <a:rPr lang="zh-CN" altLang="en-US" kern="0" dirty="0" smtClean="0"/>
              <a:t>以创建不同功能、性能的虚拟设备给到虚拟机</a:t>
            </a:r>
            <a:endParaRPr lang="en-US" altLang="zh-CN" kern="0" dirty="0" smtClean="0"/>
          </a:p>
          <a:p>
            <a:pPr marL="0" indent="0">
              <a:buNone/>
              <a:defRPr/>
            </a:pPr>
            <a:r>
              <a:rPr lang="en-US" altLang="zh-CN" b="1" kern="0" dirty="0" smtClean="0"/>
              <a:t>3.</a:t>
            </a:r>
            <a:r>
              <a:rPr lang="zh-CN" altLang="en-US" b="1" kern="0" dirty="0" smtClean="0"/>
              <a:t>资源过度分配：</a:t>
            </a:r>
            <a:r>
              <a:rPr lang="zh-CN" altLang="en-US" kern="0" dirty="0" smtClean="0"/>
              <a:t>可通过时分复用等形式使虚拟机使用到过量的设备资源</a:t>
            </a:r>
            <a:endParaRPr lang="en-US" altLang="zh-CN" kern="0" dirty="0" smtClean="0"/>
          </a:p>
          <a:p>
            <a:pPr marL="0" indent="0">
              <a:buNone/>
              <a:defRPr/>
            </a:pPr>
            <a:r>
              <a:rPr lang="en-US" altLang="zh-CN" b="1" kern="0" dirty="0" smtClean="0"/>
              <a:t>4.</a:t>
            </a:r>
            <a:r>
              <a:rPr lang="zh-CN" altLang="en-US" b="1" kern="0" dirty="0" smtClean="0"/>
              <a:t>隔代兼容与热迁移：</a:t>
            </a:r>
            <a:r>
              <a:rPr lang="en-US" altLang="zh-CN" kern="0" dirty="0" smtClean="0"/>
              <a:t>VDCM</a:t>
            </a:r>
            <a:r>
              <a:rPr lang="zh-CN" altLang="en-US" kern="0" dirty="0" smtClean="0"/>
              <a:t>可无视物理设备的不同版本虚拟出功能相同的</a:t>
            </a:r>
            <a:r>
              <a:rPr lang="en-US" altLang="zh-CN" kern="0" dirty="0" smtClean="0"/>
              <a:t>VDEV</a:t>
            </a:r>
            <a:r>
              <a:rPr lang="zh-CN" altLang="en-US" kern="0" dirty="0" smtClean="0"/>
              <a:t>，</a:t>
            </a:r>
            <a:r>
              <a:rPr lang="en-US" altLang="zh-CN" kern="0" dirty="0" smtClean="0"/>
              <a:t>VM</a:t>
            </a:r>
            <a:r>
              <a:rPr lang="zh-CN" altLang="en-US" kern="0" dirty="0" smtClean="0"/>
              <a:t>可以在不同物理机之间实现热迁移。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4"/>
          <a:srcRect b="11258"/>
          <a:stretch/>
        </p:blipFill>
        <p:spPr>
          <a:xfrm>
            <a:off x="349276" y="4212305"/>
            <a:ext cx="11229975" cy="264569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41701" y="1742138"/>
            <a:ext cx="905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rgbClr val="0070C0"/>
                </a:solidFill>
              </a:rPr>
              <a:t>SIOV</a:t>
            </a:r>
            <a:r>
              <a:rPr lang="zh-CN" altLang="en-US" dirty="0" smtClean="0">
                <a:solidFill>
                  <a:srgbClr val="0070C0"/>
                </a:solidFill>
              </a:rPr>
              <a:t>（下一代设备虚拟化技术）主要优势：</a:t>
            </a:r>
            <a:endParaRPr lang="en-US" altLang="zh-CN" dirty="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764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5115" y="943561"/>
            <a:ext cx="95624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rgbClr val="0070C0"/>
                </a:solidFill>
              </a:rPr>
              <a:t>上一阶段目前看到的缺点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en-US" dirty="0" smtClean="0"/>
              <a:t>功能搜寻访问限制在一个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设备内，若一个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设备不包含所有需要的加速功能，则此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设备不符合要求。</a:t>
            </a:r>
            <a:endParaRPr lang="en-US" altLang="zh-CN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加速功能间通信，通过</a:t>
            </a:r>
            <a:r>
              <a:rPr lang="en-US" altLang="zh-CN" dirty="0" smtClean="0"/>
              <a:t>DDR</a:t>
            </a:r>
            <a:r>
              <a:rPr lang="zh-CN" altLang="en-US" dirty="0" smtClean="0"/>
              <a:t>或</a:t>
            </a:r>
            <a:r>
              <a:rPr lang="en-US" altLang="zh-CN" dirty="0" smtClean="0"/>
              <a:t>HBM</a:t>
            </a:r>
            <a:r>
              <a:rPr lang="zh-CN" altLang="en-US" dirty="0" smtClean="0"/>
              <a:t>，引入一定的延迟。而不是加速功能间直接片上通信。</a:t>
            </a:r>
            <a:endParaRPr lang="en-US" altLang="zh-CN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6" name="文本框 2"/>
          <p:cNvSpPr txBox="1"/>
          <p:nvPr/>
        </p:nvSpPr>
        <p:spPr>
          <a:xfrm>
            <a:off x="596686" y="0"/>
            <a:ext cx="11277599" cy="52321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r>
              <a:rPr lang="en-US" altLang="zh-CN" sz="2800" b="1" dirty="0" smtClean="0">
                <a:solidFill>
                  <a:srgbClr val="0070C0"/>
                </a:solidFill>
                <a:cs typeface="+mj-cs"/>
                <a:sym typeface="+mn-lt"/>
              </a:rPr>
              <a:t>FPGA PaaS </a:t>
            </a:r>
            <a:r>
              <a:rPr lang="zh-CN" altLang="en-US" sz="2800" b="1" dirty="0">
                <a:solidFill>
                  <a:srgbClr val="0070C0"/>
                </a:solidFill>
                <a:cs typeface="+mj-cs"/>
                <a:sym typeface="+mn-lt"/>
              </a:rPr>
              <a:t>实现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685800"/>
            <a:ext cx="12192000" cy="754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05115" y="2697887"/>
            <a:ext cx="90587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rgbClr val="0070C0"/>
                </a:solidFill>
              </a:rPr>
              <a:t>实现进阶</a:t>
            </a:r>
            <a:r>
              <a:rPr lang="en-US" altLang="zh-CN" dirty="0" smtClean="0">
                <a:solidFill>
                  <a:srgbClr val="0070C0"/>
                </a:solidFill>
              </a:rPr>
              <a:t>-3</a:t>
            </a:r>
            <a:r>
              <a:rPr lang="zh-CN" altLang="en-US" dirty="0" smtClean="0">
                <a:solidFill>
                  <a:srgbClr val="0070C0"/>
                </a:solidFill>
              </a:rPr>
              <a:t>：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FPGA</a:t>
            </a:r>
            <a:r>
              <a:rPr lang="zh-CN" altLang="en-US" dirty="0" smtClean="0"/>
              <a:t>池化：单节点或跨节点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设备池化，功能搜索访问不限制在单</a:t>
            </a:r>
            <a:r>
              <a:rPr lang="en-US" altLang="zh-CN" dirty="0" smtClean="0"/>
              <a:t>FPGA</a:t>
            </a:r>
            <a:r>
              <a:rPr lang="zh-CN" altLang="en-US" dirty="0" smtClean="0"/>
              <a:t>设备内，可在同一个服务器节点、以及跨多个服务器节点。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lvl="1"/>
            <a:endParaRPr lang="en-US" altLang="zh-CN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05115" y="4211120"/>
            <a:ext cx="9562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rgbClr val="0070C0"/>
                </a:solidFill>
              </a:rPr>
              <a:t>缺点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en-US" dirty="0"/>
              <a:t>单</a:t>
            </a:r>
            <a:r>
              <a:rPr lang="zh-CN" altLang="en-US" dirty="0" smtClean="0"/>
              <a:t>节点不同设备间以及跨节点设备间通信传输延迟（</a:t>
            </a:r>
            <a:r>
              <a:rPr lang="en-US" altLang="zh-CN" dirty="0" smtClean="0"/>
              <a:t>RDMA/CXL</a:t>
            </a:r>
            <a:r>
              <a:rPr lang="zh-CN" altLang="en-US" dirty="0" smtClean="0"/>
              <a:t>提供解决路径）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281739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latin typeface="+mj-ea"/>
              </a:rPr>
              <a:t>FPGA</a:t>
            </a:r>
            <a:r>
              <a:rPr lang="zh-CN" altLang="en-US" b="1" dirty="0" smtClean="0">
                <a:latin typeface="+mj-ea"/>
              </a:rPr>
              <a:t>虚拟化特征</a:t>
            </a:r>
            <a:endParaRPr lang="zh-CN" altLang="en-US" b="1" dirty="0">
              <a:latin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8199" y="1112728"/>
            <a:ext cx="1058037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zh-CN" altLang="zh-CN" sz="2400" b="1" dirty="0"/>
              <a:t>资源抽象</a:t>
            </a:r>
            <a:r>
              <a:rPr lang="zh-CN" altLang="zh-CN" sz="2400" dirty="0"/>
              <a:t>：对底层物理</a:t>
            </a:r>
            <a:r>
              <a:rPr lang="en-US" altLang="zh-CN" sz="2400" dirty="0"/>
              <a:t>FPGA</a:t>
            </a:r>
            <a:r>
              <a:rPr lang="zh-CN" altLang="zh-CN" sz="2400" dirty="0"/>
              <a:t>硬件进行抽象，向应用开发者以及操作系统隐藏设备物理细节，并同时向上层应用提供简单且熟悉的</a:t>
            </a:r>
            <a:r>
              <a:rPr lang="en-US" altLang="zh-CN" sz="2400" dirty="0"/>
              <a:t>API</a:t>
            </a:r>
            <a:r>
              <a:rPr lang="zh-CN" altLang="zh-CN" sz="2400" dirty="0"/>
              <a:t>接口以访问虚拟的</a:t>
            </a:r>
            <a:r>
              <a:rPr lang="en-US" altLang="zh-CN" sz="2400" dirty="0"/>
              <a:t>FPGA</a:t>
            </a:r>
            <a:r>
              <a:rPr lang="zh-CN" altLang="zh-CN" sz="2400" dirty="0"/>
              <a:t>资源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zh-CN" altLang="zh-CN" sz="24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zh-CN" altLang="zh-CN" sz="2400" b="1" dirty="0"/>
              <a:t>多租户</a:t>
            </a:r>
            <a:r>
              <a:rPr lang="zh-CN" altLang="zh-CN" sz="2400" dirty="0" smtClean="0"/>
              <a:t>：在</a:t>
            </a:r>
            <a:r>
              <a:rPr lang="zh-CN" altLang="zh-CN" sz="2400" dirty="0"/>
              <a:t>空间和时间上共享</a:t>
            </a:r>
            <a:r>
              <a:rPr lang="en-US" altLang="zh-CN" sz="2400" dirty="0"/>
              <a:t>FPGA</a:t>
            </a:r>
            <a:r>
              <a:rPr lang="zh-CN" altLang="zh-CN" sz="2400" dirty="0"/>
              <a:t>资源，以支持多个用户和应用，提高</a:t>
            </a:r>
            <a:r>
              <a:rPr lang="en-US" altLang="zh-CN" sz="2400" dirty="0"/>
              <a:t>FPGA</a:t>
            </a:r>
            <a:r>
              <a:rPr lang="zh-CN" altLang="zh-CN" sz="2400" dirty="0"/>
              <a:t>的资源</a:t>
            </a:r>
            <a:r>
              <a:rPr lang="zh-CN" altLang="zh-CN" sz="2400" dirty="0" smtClean="0"/>
              <a:t>利用率</a:t>
            </a:r>
            <a:endParaRPr lang="en-US" altLang="zh-CN" sz="2400" dirty="0" smtClean="0"/>
          </a:p>
          <a:p>
            <a:pPr lvl="0"/>
            <a:endParaRPr lang="zh-CN" altLang="zh-CN" sz="24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zh-CN" altLang="zh-CN" sz="2400" b="1" dirty="0"/>
              <a:t>资源管理</a:t>
            </a:r>
            <a:r>
              <a:rPr lang="zh-CN" altLang="zh-CN" sz="2400" dirty="0"/>
              <a:t>：可灵活、透明地对</a:t>
            </a:r>
            <a:r>
              <a:rPr lang="en-US" altLang="zh-CN" sz="2400" dirty="0"/>
              <a:t>FPGA</a:t>
            </a:r>
            <a:r>
              <a:rPr lang="zh-CN" altLang="zh-CN" sz="2400" dirty="0"/>
              <a:t>资源进行配置和管理，以实现负载均衡和容错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zh-CN" altLang="zh-CN" sz="24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zh-CN" altLang="zh-CN" sz="2400" b="1" dirty="0"/>
              <a:t>隔离</a:t>
            </a:r>
            <a:r>
              <a:rPr lang="zh-CN" altLang="zh-CN" sz="2400" dirty="0"/>
              <a:t>：具体包括功能隔离、性能隔离以及错误隔离，确保不同用户和应用间功能有保证，性能互不影响以及错误不引起系统异常。</a:t>
            </a:r>
          </a:p>
          <a:p>
            <a:endParaRPr lang="en-US" altLang="zh-CN" sz="2400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0" y="685800"/>
            <a:ext cx="12192000" cy="754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637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3826"/>
            <a:ext cx="12192000" cy="3361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3106271" y="502711"/>
            <a:ext cx="5620871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00"/>
                </a:solidFill>
                <a:latin typeface="MyriadRegular" pitchFamily="2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00"/>
                </a:solidFill>
                <a:latin typeface="MyriadRegular" pitchFamily="2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00"/>
                </a:solidFill>
                <a:latin typeface="MyriadRegular" pitchFamily="2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00"/>
                </a:solidFill>
                <a:latin typeface="MyriadRegular" pitchFamily="2" charset="0"/>
                <a:ea typeface="黑体" pitchFamily="2" charset="-122"/>
              </a:defRPr>
            </a:lvl9pPr>
          </a:lstStyle>
          <a:p>
            <a:pPr defTabSz="914354">
              <a:defRPr/>
            </a:pPr>
            <a:r>
              <a:rPr lang="zh-CN" altLang="en-US" sz="4800" kern="0" dirty="0">
                <a:solidFill>
                  <a:srgbClr val="0070C0"/>
                </a:solidFill>
              </a:rPr>
              <a:t>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89382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MyriadRegular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MyriadRegular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22306</TotalTime>
  <Words>1657</Words>
  <Application>Microsoft Office PowerPoint</Application>
  <PresentationFormat>宽屏</PresentationFormat>
  <Paragraphs>126</Paragraphs>
  <Slides>13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MyriadRegular</vt:lpstr>
      <vt:lpstr>等线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Office 主题</vt:lpstr>
      <vt:lpstr>2_默认设计模板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FPGA虚拟化特征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Vinny Guo (郭巍)-浪潮信息</dc:creator>
  <cp:lastModifiedBy>Deson Zhang(张德闪)</cp:lastModifiedBy>
  <cp:revision>695</cp:revision>
  <dcterms:created xsi:type="dcterms:W3CDTF">2019-03-20T06:50:39Z</dcterms:created>
  <dcterms:modified xsi:type="dcterms:W3CDTF">2024-12-22T13:53:44Z</dcterms:modified>
</cp:coreProperties>
</file>